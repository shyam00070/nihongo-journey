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60" r:id="rId1"/>
  </p:sldMasterIdLst>
  <p:notesMasterIdLst>
    <p:notesMasterId r:id="rId2"/>
  </p:notesMasterIdLst>
  <p:sldIdLst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2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2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2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82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6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7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8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9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9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9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0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0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0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0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0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0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1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11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7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7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1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1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1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1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2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8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8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8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9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7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7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28" name=""/>
        <p:cNvGrpSpPr/>
        <p:nvPr/>
      </p:nvGrpSpPr>
      <p:grpSpPr>
        <a:xfrm/>
      </p:grpSpPr>
      <p:pic>
        <p:nvPicPr>
          <p:cNvPr id="29" name="Picture 28" descr="69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26" name=""/>
        <p:cNvGrpSpPr/>
        <p:nvPr/>
      </p:nvGrpSpPr>
      <p:grpSpPr>
        <a:xfrm/>
      </p:grpSpPr>
      <p:sp>
        <p:nvSpPr>
          <p:cNvPr id="1048622" name="TextBox 1"/>
          <p:cNvSpPr txBox="1"/>
          <p:nvPr/>
        </p:nvSpPr>
        <p:spPr>
          <a:xfrm>
            <a:off x="640080" y="347472"/>
            <a:ext cx="958729" cy="2382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000">
                <a:solidFill>
                  <a:srgbClr val="BE3137"/>
                </a:solidFill>
                <a:latin typeface="Aptos"/>
              </a:rPr>
              <a:t>01 / OVERVIEW</a:t>
            </a:r>
          </a:p>
        </p:txBody>
      </p:sp>
      <p:sp>
        <p:nvSpPr>
          <p:cNvPr id="1048623" name="TextBox 2"/>
          <p:cNvSpPr txBox="1"/>
          <p:nvPr/>
        </p:nvSpPr>
        <p:spPr>
          <a:xfrm>
            <a:off x="640080" y="749808"/>
            <a:ext cx="4560668" cy="5303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2800">
                <a:solidFill>
                  <a:srgbClr val="24272B"/>
                </a:solidFill>
                <a:latin typeface="Aptos"/>
              </a:rPr>
              <a:t>What is Nihongo Journey?</a:t>
            </a:r>
          </a:p>
        </p:txBody>
      </p:sp>
      <p:sp>
        <p:nvSpPr>
          <p:cNvPr id="1048624" name="TextBox 3"/>
          <p:cNvSpPr txBox="1"/>
          <p:nvPr/>
        </p:nvSpPr>
        <p:spPr>
          <a:xfrm>
            <a:off x="658368" y="1389888"/>
            <a:ext cx="5985449" cy="2890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300">
                <a:solidFill>
                  <a:srgbClr val="696F76"/>
                </a:solidFill>
                <a:latin typeface="Aptos"/>
              </a:rPr>
              <a:t>A single place to study core Japanese language topics in a structured way.</a:t>
            </a:r>
          </a:p>
        </p:txBody>
      </p:sp>
      <p:sp>
        <p:nvSpPr>
          <p:cNvPr id="1048625" name="TextBox 4"/>
          <p:cNvSpPr txBox="1"/>
          <p:nvPr/>
        </p:nvSpPr>
        <p:spPr>
          <a:xfrm>
            <a:off x="640080" y="6510528"/>
            <a:ext cx="2264497" cy="2001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800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1048626" name="TextBox 5"/>
          <p:cNvSpPr txBox="1"/>
          <p:nvPr/>
        </p:nvSpPr>
        <p:spPr>
          <a:xfrm>
            <a:off x="11064240" y="6473952"/>
            <a:ext cx="225553" cy="225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r">
              <a:spcAft>
                <a:spcPts val="0"/>
              </a:spcAft>
            </a:pPr>
            <a:r>
              <a:rPr b="1" sz="900">
                <a:solidFill>
                  <a:srgbClr val="696F76"/>
                </a:solidFill>
                <a:latin typeface="Aptos"/>
              </a:rPr>
              <a:t>02</a:t>
            </a:r>
          </a:p>
        </p:txBody>
      </p:sp>
      <p:sp>
        <p:nvSpPr>
          <p:cNvPr id="1048627" name="Rounded Rectangle 6"/>
          <p:cNvSpPr/>
          <p:nvPr/>
        </p:nvSpPr>
        <p:spPr>
          <a:xfrm>
            <a:off x="685800" y="2057400"/>
            <a:ext cx="6583680" cy="352044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8" name="TextBox 7"/>
          <p:cNvSpPr txBox="1"/>
          <p:nvPr/>
        </p:nvSpPr>
        <p:spPr>
          <a:xfrm>
            <a:off x="960120" y="2359152"/>
            <a:ext cx="873253" cy="3144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500">
                <a:solidFill>
                  <a:srgbClr val="BE3137"/>
                </a:solidFill>
                <a:latin typeface="Aptos"/>
              </a:rPr>
              <a:t>The idea</a:t>
            </a:r>
          </a:p>
        </p:txBody>
      </p:sp>
      <p:sp>
        <p:nvSpPr>
          <p:cNvPr id="1048629" name="TextBox 8"/>
          <p:cNvSpPr txBox="1"/>
          <p:nvPr/>
        </p:nvSpPr>
        <p:spPr>
          <a:xfrm>
            <a:off x="960120" y="2743200"/>
            <a:ext cx="5806440" cy="960120"/>
          </a:xfrm>
          <a:prstGeom prst="rect"/>
          <a:noFill/>
        </p:spPr>
        <p:txBody>
          <a:bodyPr anchor="t" bIns="36576" lIns="36576" rIns="36576" tIns="36576" wrap="square">
            <a:noAutofit/>
          </a:bodyPr>
          <a:p>
            <a:pPr>
              <a:spcAft>
                <a:spcPts val="0"/>
              </a:spcAft>
            </a:pPr>
            <a:r>
              <a:rPr b="1" sz="1800">
                <a:solidFill>
                  <a:srgbClr val="24272B"/>
                </a:solidFill>
                <a:latin typeface="Aptos"/>
              </a:rPr>
              <a:t>Learning Japanese can feel fragmented when learners use separate resources for different topics.</a:t>
            </a:r>
          </a:p>
        </p:txBody>
      </p:sp>
      <p:sp>
        <p:nvSpPr>
          <p:cNvPr id="1048630" name="TextBox 9"/>
          <p:cNvSpPr txBox="1"/>
          <p:nvPr/>
        </p:nvSpPr>
        <p:spPr>
          <a:xfrm>
            <a:off x="960120" y="3977639"/>
            <a:ext cx="5806440" cy="960120"/>
          </a:xfrm>
          <a:prstGeom prst="rect"/>
          <a:noFill/>
        </p:spPr>
        <p:txBody>
          <a:bodyPr anchor="t" bIns="36576" lIns="36576" rIns="36576" tIns="36576" wrap="square">
            <a:noAutofit/>
          </a:bodyPr>
          <a:p>
            <a:pPr>
              <a:spcAft>
                <a:spcPts val="0"/>
              </a:spcAft>
            </a:pPr>
            <a:r>
              <a:rPr b="0" sz="1400">
                <a:solidFill>
                  <a:srgbClr val="696F76"/>
                </a:solidFill>
                <a:latin typeface="Aptos"/>
              </a:rPr>
              <a:t>Nihongo Journey brings grammar, vocabulary and kanji together under JLPT-based levels, starting with N5 and expanding to N4 and N3.</a:t>
            </a:r>
          </a:p>
        </p:txBody>
      </p:sp>
      <p:sp>
        <p:nvSpPr>
          <p:cNvPr id="1048631" name="Rounded Rectangle 10"/>
          <p:cNvSpPr/>
          <p:nvPr/>
        </p:nvSpPr>
        <p:spPr>
          <a:xfrm>
            <a:off x="7635240" y="2057400"/>
            <a:ext cx="3840480" cy="3520440"/>
          </a:xfrm>
          <a:prstGeom prst="roundRect"/>
          <a:solidFill>
            <a:srgbClr val="1F2328"/>
          </a:solidFill>
          <a:ln w="10160">
            <a:solidFill>
              <a:srgbClr val="1F2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2" name="TextBox 11"/>
          <p:cNvSpPr txBox="1"/>
          <p:nvPr/>
        </p:nvSpPr>
        <p:spPr>
          <a:xfrm>
            <a:off x="8001000" y="2560320"/>
            <a:ext cx="555753" cy="2763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200">
                <a:solidFill>
                  <a:srgbClr val="EDBEBE"/>
                </a:solidFill>
                <a:latin typeface="Aptos"/>
              </a:rPr>
              <a:t>LEARN</a:t>
            </a:r>
          </a:p>
        </p:txBody>
      </p:sp>
      <p:sp>
        <p:nvSpPr>
          <p:cNvPr id="1048633" name="TextBox 12"/>
          <p:cNvSpPr txBox="1"/>
          <p:nvPr/>
        </p:nvSpPr>
        <p:spPr>
          <a:xfrm>
            <a:off x="8001000" y="3429000"/>
            <a:ext cx="767535" cy="2763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200">
                <a:solidFill>
                  <a:srgbClr val="FFFFFF"/>
                </a:solidFill>
                <a:latin typeface="Aptos"/>
              </a:rPr>
              <a:t>PRACTISE</a:t>
            </a:r>
          </a:p>
        </p:txBody>
      </p:sp>
      <p:sp>
        <p:nvSpPr>
          <p:cNvPr id="1048634" name="TextBox 13"/>
          <p:cNvSpPr txBox="1"/>
          <p:nvPr/>
        </p:nvSpPr>
        <p:spPr>
          <a:xfrm>
            <a:off x="8001000" y="4297680"/>
            <a:ext cx="835153" cy="2763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200">
                <a:solidFill>
                  <a:srgbClr val="EDBEBE"/>
                </a:solidFill>
                <a:latin typeface="Aptos"/>
              </a:rPr>
              <a:t>PROGRESS</a:t>
            </a:r>
          </a:p>
        </p:txBody>
      </p:sp>
      <p:cxnSp>
        <p:nvCxnSpPr>
          <p:cNvPr id="3145730" name="Connector 14"/>
          <p:cNvCxnSpPr>
            <a:cxnSpLocks/>
          </p:cNvCxnSpPr>
          <p:nvPr/>
        </p:nvCxnSpPr>
        <p:spPr>
          <a:xfrm>
            <a:off x="9555480" y="2971800"/>
            <a:ext cx="0" cy="320040"/>
          </a:xfrm>
          <a:prstGeom prst="line"/>
          <a:ln w="25400">
            <a:solidFill>
              <a:srgbClr val="C49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1" name="Connector 15"/>
          <p:cNvCxnSpPr>
            <a:cxnSpLocks/>
          </p:cNvCxnSpPr>
          <p:nvPr/>
        </p:nvCxnSpPr>
        <p:spPr>
          <a:xfrm>
            <a:off x="9555480" y="3840480"/>
            <a:ext cx="0" cy="320040"/>
          </a:xfrm>
          <a:prstGeom prst="line"/>
          <a:ln w="25400">
            <a:solidFill>
              <a:srgbClr val="C49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24" name=""/>
        <p:cNvGrpSpPr/>
        <p:nvPr/>
      </p:nvGrpSpPr>
      <p:grpSpPr>
        <a:xfrm/>
      </p:grpSpPr>
      <p:sp>
        <p:nvSpPr>
          <p:cNvPr id="1048584" name="TextBox 1"/>
          <p:cNvSpPr txBox="1"/>
          <p:nvPr/>
        </p:nvSpPr>
        <p:spPr>
          <a:xfrm>
            <a:off x="640080" y="347472"/>
            <a:ext cx="1069110" cy="2382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000">
                <a:solidFill>
                  <a:srgbClr val="BE3137"/>
                </a:solidFill>
                <a:latin typeface="Aptos"/>
              </a:rPr>
              <a:t>02 / MOTIVATION</a:t>
            </a:r>
          </a:p>
        </p:txBody>
      </p:sp>
      <p:sp>
        <p:nvSpPr>
          <p:cNvPr id="1048585" name="TextBox 2"/>
          <p:cNvSpPr txBox="1"/>
          <p:nvPr/>
        </p:nvSpPr>
        <p:spPr>
          <a:xfrm>
            <a:off x="640080" y="749808"/>
            <a:ext cx="2213053" cy="5303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2800">
                <a:solidFill>
                  <a:srgbClr val="24272B"/>
                </a:solidFill>
                <a:latin typeface="Aptos"/>
              </a:rPr>
              <a:t>The problem</a:t>
            </a:r>
          </a:p>
        </p:txBody>
      </p:sp>
      <p:sp>
        <p:nvSpPr>
          <p:cNvPr id="1048586" name="TextBox 3"/>
          <p:cNvSpPr txBox="1"/>
          <p:nvPr/>
        </p:nvSpPr>
        <p:spPr>
          <a:xfrm>
            <a:off x="658368" y="1389888"/>
            <a:ext cx="6323884" cy="2890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300">
                <a:solidFill>
                  <a:srgbClr val="696F76"/>
                </a:solidFill>
                <a:latin typeface="Aptos"/>
              </a:rPr>
              <a:t>Learners often need to switch between multiple resources to cover the basics.</a:t>
            </a:r>
          </a:p>
        </p:txBody>
      </p:sp>
      <p:sp>
        <p:nvSpPr>
          <p:cNvPr id="1048587" name="TextBox 4"/>
          <p:cNvSpPr txBox="1"/>
          <p:nvPr/>
        </p:nvSpPr>
        <p:spPr>
          <a:xfrm>
            <a:off x="640080" y="6510528"/>
            <a:ext cx="2264497" cy="2001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800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1048588" name="Rounded Rectangle 6"/>
          <p:cNvSpPr/>
          <p:nvPr/>
        </p:nvSpPr>
        <p:spPr>
          <a:xfrm>
            <a:off x="731520" y="2331720"/>
            <a:ext cx="3429000" cy="269748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9" name="TextBox 7"/>
          <p:cNvSpPr txBox="1"/>
          <p:nvPr/>
        </p:nvSpPr>
        <p:spPr>
          <a:xfrm>
            <a:off x="960120" y="2542032"/>
            <a:ext cx="2788920" cy="320040"/>
          </a:xfrm>
          <a:prstGeom prst="rect"/>
          <a:noFill/>
        </p:spPr>
        <p:txBody>
          <a:bodyPr anchor="ctr" bIns="9144" lIns="18288" rIns="18288" tIns="9144" wrap="none">
            <a:noAutofit/>
          </a:bodyPr>
          <a:p>
            <a:pPr algn="l">
              <a:spcAft>
                <a:spcPts val="0"/>
              </a:spcAft>
            </a:pPr>
            <a:r>
              <a:rPr b="1" sz="1400">
                <a:solidFill>
                  <a:srgbClr val="BE3137"/>
                </a:solidFill>
                <a:latin typeface="Aptos"/>
              </a:rPr>
              <a:t>01</a:t>
            </a:r>
          </a:p>
        </p:txBody>
      </p:sp>
      <p:sp>
        <p:nvSpPr>
          <p:cNvPr id="1048590" name="TextBox 8"/>
          <p:cNvSpPr txBox="1"/>
          <p:nvPr/>
        </p:nvSpPr>
        <p:spPr>
          <a:xfrm>
            <a:off x="960120" y="3063240"/>
            <a:ext cx="2788920" cy="713232"/>
          </a:xfrm>
          <a:prstGeom prst="rect"/>
          <a:noFill/>
        </p:spPr>
        <p:txBody>
          <a:bodyPr anchor="t" bIns="9144" lIns="18288" rIns="18288" tIns="9144" wrap="square">
            <a:noAutofit/>
          </a:bodyPr>
          <a:p>
            <a:pPr algn="l">
              <a:spcAft>
                <a:spcPts val="0"/>
              </a:spcAft>
            </a:pPr>
            <a:r>
              <a:rPr b="1" sz="1500">
                <a:solidFill>
                  <a:srgbClr val="24272B"/>
                </a:solidFill>
                <a:latin typeface="Aptos"/>
              </a:rPr>
              <a:t>Scattered resources</a:t>
            </a:r>
          </a:p>
        </p:txBody>
      </p:sp>
      <p:sp>
        <p:nvSpPr>
          <p:cNvPr id="1048591" name="TextBox 9"/>
          <p:cNvSpPr txBox="1"/>
          <p:nvPr/>
        </p:nvSpPr>
        <p:spPr>
          <a:xfrm>
            <a:off x="960120" y="3931920"/>
            <a:ext cx="2788920" cy="841248"/>
          </a:xfrm>
          <a:prstGeom prst="rect"/>
          <a:noFill/>
        </p:spPr>
        <p:txBody>
          <a:bodyPr anchor="t" bIns="18288" lIns="18288" rIns="18288" tIns="18288" wrap="square">
            <a:noAutofit/>
          </a:bodyPr>
          <a:p>
            <a:pPr algn="l">
              <a:spcAft>
                <a:spcPts val="0"/>
              </a:spcAft>
            </a:pPr>
            <a:r>
              <a:rPr sz="1100">
                <a:solidFill>
                  <a:srgbClr val="696F76"/>
                </a:solidFill>
                <a:latin typeface="Aptos"/>
              </a:rPr>
              <a:t>Grammar, vocabulary and kanji
are studied in separate places.</a:t>
            </a:r>
          </a:p>
        </p:txBody>
      </p:sp>
      <p:sp>
        <p:nvSpPr>
          <p:cNvPr id="1048592" name="Rounded Rectangle 10"/>
          <p:cNvSpPr/>
          <p:nvPr/>
        </p:nvSpPr>
        <p:spPr>
          <a:xfrm>
            <a:off x="4526280" y="2331720"/>
            <a:ext cx="3429000" cy="269748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3" name="TextBox 11"/>
          <p:cNvSpPr txBox="1"/>
          <p:nvPr/>
        </p:nvSpPr>
        <p:spPr>
          <a:xfrm>
            <a:off x="4754880" y="2542032"/>
            <a:ext cx="2788920" cy="320040"/>
          </a:xfrm>
          <a:prstGeom prst="rect"/>
          <a:noFill/>
        </p:spPr>
        <p:txBody>
          <a:bodyPr anchor="ctr" bIns="9144" lIns="18288" rIns="18288" tIns="9144" wrap="none">
            <a:noAutofit/>
          </a:bodyPr>
          <a:p>
            <a:pPr algn="l">
              <a:spcAft>
                <a:spcPts val="0"/>
              </a:spcAft>
            </a:pPr>
            <a:r>
              <a:rPr b="1" sz="1400">
                <a:solidFill>
                  <a:srgbClr val="BE3137"/>
                </a:solidFill>
                <a:latin typeface="Aptos"/>
              </a:rPr>
              <a:t>02</a:t>
            </a:r>
          </a:p>
        </p:txBody>
      </p:sp>
      <p:sp>
        <p:nvSpPr>
          <p:cNvPr id="1048594" name="TextBox 12"/>
          <p:cNvSpPr txBox="1"/>
          <p:nvPr/>
        </p:nvSpPr>
        <p:spPr>
          <a:xfrm>
            <a:off x="4754880" y="3063240"/>
            <a:ext cx="2788920" cy="713232"/>
          </a:xfrm>
          <a:prstGeom prst="rect"/>
          <a:noFill/>
        </p:spPr>
        <p:txBody>
          <a:bodyPr anchor="t" bIns="9144" lIns="18288" rIns="18288" tIns="9144" wrap="square">
            <a:noAutofit/>
          </a:bodyPr>
          <a:p>
            <a:pPr algn="l">
              <a:spcAft>
                <a:spcPts val="0"/>
              </a:spcAft>
            </a:pPr>
            <a:r>
              <a:rPr b="1" sz="1500">
                <a:solidFill>
                  <a:srgbClr val="24272B"/>
                </a:solidFill>
                <a:latin typeface="Aptos"/>
              </a:rPr>
              <a:t>Unclear learning path</a:t>
            </a:r>
          </a:p>
        </p:txBody>
      </p:sp>
      <p:sp>
        <p:nvSpPr>
          <p:cNvPr id="1048595" name="TextBox 13"/>
          <p:cNvSpPr txBox="1"/>
          <p:nvPr/>
        </p:nvSpPr>
        <p:spPr>
          <a:xfrm>
            <a:off x="4754880" y="3931920"/>
            <a:ext cx="2788920" cy="841248"/>
          </a:xfrm>
          <a:prstGeom prst="rect"/>
          <a:noFill/>
        </p:spPr>
        <p:txBody>
          <a:bodyPr anchor="t" bIns="18288" lIns="18288" rIns="18288" tIns="18288" wrap="square">
            <a:noAutofit/>
          </a:bodyPr>
          <a:p>
            <a:pPr algn="l">
              <a:spcAft>
                <a:spcPts val="0"/>
              </a:spcAft>
            </a:pPr>
            <a:r>
              <a:rPr sz="1100">
                <a:solidFill>
                  <a:srgbClr val="696F76"/>
                </a:solidFill>
                <a:latin typeface="Aptos"/>
              </a:rPr>
              <a:t>Beginners may not know what
to study next or how topics connect.</a:t>
            </a:r>
          </a:p>
        </p:txBody>
      </p:sp>
      <p:sp>
        <p:nvSpPr>
          <p:cNvPr id="1048596" name="Rounded Rectangle 14"/>
          <p:cNvSpPr/>
          <p:nvPr/>
        </p:nvSpPr>
        <p:spPr>
          <a:xfrm>
            <a:off x="8321040" y="2331720"/>
            <a:ext cx="3429000" cy="269748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7" name="TextBox 15"/>
          <p:cNvSpPr txBox="1"/>
          <p:nvPr/>
        </p:nvSpPr>
        <p:spPr>
          <a:xfrm>
            <a:off x="8549640" y="2542032"/>
            <a:ext cx="2788920" cy="320040"/>
          </a:xfrm>
          <a:prstGeom prst="rect"/>
          <a:noFill/>
        </p:spPr>
        <p:txBody>
          <a:bodyPr anchor="ctr" bIns="9144" lIns="18288" rIns="18288" tIns="9144" wrap="none">
            <a:noAutofit/>
          </a:bodyPr>
          <a:p>
            <a:pPr algn="l">
              <a:spcAft>
                <a:spcPts val="0"/>
              </a:spcAft>
            </a:pPr>
            <a:r>
              <a:rPr b="1" sz="1400">
                <a:solidFill>
                  <a:srgbClr val="BE3137"/>
                </a:solidFill>
                <a:latin typeface="Aptos"/>
              </a:rPr>
              <a:t>03</a:t>
            </a:r>
          </a:p>
        </p:txBody>
      </p:sp>
      <p:sp>
        <p:nvSpPr>
          <p:cNvPr id="1048598" name="TextBox 16"/>
          <p:cNvSpPr txBox="1"/>
          <p:nvPr/>
        </p:nvSpPr>
        <p:spPr>
          <a:xfrm>
            <a:off x="8549640" y="3063240"/>
            <a:ext cx="2788920" cy="713232"/>
          </a:xfrm>
          <a:prstGeom prst="rect"/>
          <a:noFill/>
        </p:spPr>
        <p:txBody>
          <a:bodyPr anchor="t" bIns="9144" lIns="18288" rIns="18288" tIns="9144" wrap="square">
            <a:noAutofit/>
          </a:bodyPr>
          <a:p>
            <a:pPr algn="l">
              <a:spcAft>
                <a:spcPts val="0"/>
              </a:spcAft>
            </a:pPr>
            <a:r>
              <a:rPr b="1" sz="1500">
                <a:solidFill>
                  <a:srgbClr val="24272B"/>
                </a:solidFill>
                <a:latin typeface="Aptos"/>
              </a:rPr>
              <a:t>Limited progress
visibility</a:t>
            </a:r>
          </a:p>
        </p:txBody>
      </p:sp>
      <p:sp>
        <p:nvSpPr>
          <p:cNvPr id="1048599" name="TextBox 17"/>
          <p:cNvSpPr txBox="1"/>
          <p:nvPr/>
        </p:nvSpPr>
        <p:spPr>
          <a:xfrm>
            <a:off x="8549640" y="3931920"/>
            <a:ext cx="2788920" cy="841248"/>
          </a:xfrm>
          <a:prstGeom prst="rect"/>
          <a:noFill/>
        </p:spPr>
        <p:txBody>
          <a:bodyPr anchor="t" bIns="18288" lIns="18288" rIns="18288" tIns="18288" wrap="square">
            <a:noAutofit/>
          </a:bodyPr>
          <a:p>
            <a:pPr algn="l">
              <a:spcAft>
                <a:spcPts val="0"/>
              </a:spcAft>
            </a:pPr>
            <a:r>
              <a:rPr sz="1100">
                <a:solidFill>
                  <a:srgbClr val="696F76"/>
                </a:solidFill>
                <a:latin typeface="Aptos"/>
              </a:rPr>
              <a:t>It can be difficult to see what is
completed and what needs revision.</a:t>
            </a:r>
          </a:p>
        </p:txBody>
      </p:sp>
      <p:sp>
        <p:nvSpPr>
          <p:cNvPr id="1048600" name="TextBox 18"/>
          <p:cNvSpPr txBox="1"/>
          <p:nvPr/>
        </p:nvSpPr>
        <p:spPr>
          <a:xfrm>
            <a:off x="822960" y="5486400"/>
            <a:ext cx="8409264" cy="3525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700">
                <a:solidFill>
                  <a:srgbClr val="4E7968"/>
                </a:solidFill>
                <a:latin typeface="Aptos"/>
              </a:rPr>
              <a:t>Project goal: make foundational Japanese study more organised and accessible.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25" name=""/>
        <p:cNvGrpSpPr/>
        <p:nvPr/>
      </p:nvGrpSpPr>
      <p:grpSpPr>
        <a:xfrm/>
      </p:grpSpPr>
      <p:sp>
        <p:nvSpPr>
          <p:cNvPr id="1048601" name="TextBox 1"/>
          <p:cNvSpPr txBox="1"/>
          <p:nvPr/>
        </p:nvSpPr>
        <p:spPr>
          <a:xfrm>
            <a:off x="640080" y="347472"/>
            <a:ext cx="1633367" cy="2382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000">
                <a:solidFill>
                  <a:srgbClr val="BE3137"/>
                </a:solidFill>
                <a:latin typeface="Aptos"/>
              </a:rPr>
              <a:t>03 / PROPOSED SOLUTION</a:t>
            </a:r>
          </a:p>
        </p:txBody>
      </p:sp>
      <p:sp>
        <p:nvSpPr>
          <p:cNvPr id="1048602" name="TextBox 2"/>
          <p:cNvSpPr txBox="1"/>
          <p:nvPr/>
        </p:nvSpPr>
        <p:spPr>
          <a:xfrm>
            <a:off x="640080" y="749808"/>
            <a:ext cx="6258201" cy="5303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2800">
                <a:solidFill>
                  <a:srgbClr val="24272B"/>
                </a:solidFill>
                <a:latin typeface="Aptos"/>
              </a:rPr>
              <a:t>One connected learning experience</a:t>
            </a:r>
          </a:p>
        </p:txBody>
      </p:sp>
      <p:sp>
        <p:nvSpPr>
          <p:cNvPr id="1048603" name="TextBox 3"/>
          <p:cNvSpPr txBox="1"/>
          <p:nvPr/>
        </p:nvSpPr>
        <p:spPr>
          <a:xfrm>
            <a:off x="658368" y="1389888"/>
            <a:ext cx="4867353" cy="2890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300">
                <a:solidFill>
                  <a:srgbClr val="696F76"/>
                </a:solidFill>
                <a:latin typeface="Aptos"/>
              </a:rPr>
              <a:t>Organise content by proficiency level and learning category.</a:t>
            </a:r>
          </a:p>
        </p:txBody>
      </p:sp>
      <p:sp>
        <p:nvSpPr>
          <p:cNvPr id="1048604" name="TextBox 4"/>
          <p:cNvSpPr txBox="1"/>
          <p:nvPr/>
        </p:nvSpPr>
        <p:spPr>
          <a:xfrm>
            <a:off x="640080" y="6510528"/>
            <a:ext cx="2264497" cy="2001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800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1048605" name="TextBox 5"/>
          <p:cNvSpPr txBox="1"/>
          <p:nvPr/>
        </p:nvSpPr>
        <p:spPr>
          <a:xfrm>
            <a:off x="11064240" y="6473952"/>
            <a:ext cx="225553" cy="225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r">
              <a:spcAft>
                <a:spcPts val="0"/>
              </a:spcAft>
            </a:pPr>
            <a:r>
              <a:rPr b="1" sz="900">
                <a:solidFill>
                  <a:srgbClr val="696F76"/>
                </a:solidFill>
                <a:latin typeface="Aptos"/>
              </a:rPr>
              <a:t>04</a:t>
            </a:r>
          </a:p>
        </p:txBody>
      </p:sp>
      <p:sp>
        <p:nvSpPr>
          <p:cNvPr id="1048606" name="Rounded Rectangle 6"/>
          <p:cNvSpPr/>
          <p:nvPr/>
        </p:nvSpPr>
        <p:spPr>
          <a:xfrm>
            <a:off x="868680" y="2331720"/>
            <a:ext cx="3246120" cy="242316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7" name="Oval 7"/>
          <p:cNvSpPr/>
          <p:nvPr/>
        </p:nvSpPr>
        <p:spPr>
          <a:xfrm>
            <a:off x="1097280" y="2606040"/>
            <a:ext cx="713232" cy="713232"/>
          </a:xfrm>
          <a:prstGeom prst="ellipse"/>
          <a:solidFill>
            <a:srgbClr val="BE3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8" name="TextBox 8"/>
          <p:cNvSpPr txBox="1"/>
          <p:nvPr/>
        </p:nvSpPr>
        <p:spPr>
          <a:xfrm>
            <a:off x="1097280" y="2786380"/>
            <a:ext cx="352553" cy="352552"/>
          </a:xfrm>
          <a:prstGeom prst="rect"/>
          <a:noFill/>
        </p:spPr>
        <p:txBody>
          <a:bodyPr anchor="ctr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700">
                <a:solidFill>
                  <a:srgbClr val="FFFFFF"/>
                </a:solidFill>
                <a:latin typeface="Aptos"/>
              </a:rPr>
              <a:t>N5</a:t>
            </a:r>
          </a:p>
        </p:txBody>
      </p:sp>
      <p:sp>
        <p:nvSpPr>
          <p:cNvPr id="1048609" name="TextBox 9"/>
          <p:cNvSpPr txBox="1"/>
          <p:nvPr/>
        </p:nvSpPr>
        <p:spPr>
          <a:xfrm>
            <a:off x="1965960" y="2688336"/>
            <a:ext cx="1942780" cy="3017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400">
                <a:solidFill>
                  <a:srgbClr val="24272B"/>
                </a:solidFill>
                <a:latin typeface="Aptos"/>
              </a:rPr>
              <a:t>Beginner foundations</a:t>
            </a:r>
          </a:p>
        </p:txBody>
      </p:sp>
      <p:sp>
        <p:nvSpPr>
          <p:cNvPr id="1048610" name="TextBox 10"/>
          <p:cNvSpPr txBox="1"/>
          <p:nvPr/>
        </p:nvSpPr>
        <p:spPr>
          <a:xfrm>
            <a:off x="1124712" y="3886200"/>
            <a:ext cx="2300117" cy="2763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200">
                <a:solidFill>
                  <a:srgbClr val="696F76"/>
                </a:solidFill>
                <a:latin typeface="Aptos"/>
              </a:rPr>
              <a:t>Grammar  •  Vocabulary  •  Kanji</a:t>
            </a:r>
          </a:p>
        </p:txBody>
      </p:sp>
      <p:cxnSp>
        <p:nvCxnSpPr>
          <p:cNvPr id="3145728" name="Connector 11"/>
          <p:cNvCxnSpPr>
            <a:cxnSpLocks/>
          </p:cNvCxnSpPr>
          <p:nvPr/>
        </p:nvCxnSpPr>
        <p:spPr>
          <a:xfrm>
            <a:off x="4142232" y="3566160"/>
            <a:ext cx="384048" cy="0"/>
          </a:xfrm>
          <a:prstGeom prst="line"/>
          <a:ln w="25400">
            <a:solidFill>
              <a:srgbClr val="C49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11" name="Rounded Rectangle 12"/>
          <p:cNvSpPr/>
          <p:nvPr/>
        </p:nvSpPr>
        <p:spPr>
          <a:xfrm>
            <a:off x="4617720" y="2331720"/>
            <a:ext cx="3246120" cy="242316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2" name="Oval 13"/>
          <p:cNvSpPr/>
          <p:nvPr/>
        </p:nvSpPr>
        <p:spPr>
          <a:xfrm>
            <a:off x="4846320" y="2606040"/>
            <a:ext cx="713232" cy="713232"/>
          </a:xfrm>
          <a:prstGeom prst="ellipse"/>
          <a:solidFill>
            <a:srgbClr val="C49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3" name="TextBox 14"/>
          <p:cNvSpPr txBox="1"/>
          <p:nvPr/>
        </p:nvSpPr>
        <p:spPr>
          <a:xfrm>
            <a:off x="4846320" y="2786380"/>
            <a:ext cx="352552" cy="352552"/>
          </a:xfrm>
          <a:prstGeom prst="rect"/>
          <a:noFill/>
        </p:spPr>
        <p:txBody>
          <a:bodyPr anchor="ctr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700">
                <a:solidFill>
                  <a:srgbClr val="FFFFFF"/>
                </a:solidFill>
                <a:latin typeface="Aptos"/>
              </a:rPr>
              <a:t>N4</a:t>
            </a:r>
          </a:p>
        </p:txBody>
      </p:sp>
      <p:sp>
        <p:nvSpPr>
          <p:cNvPr id="1048614" name="TextBox 15"/>
          <p:cNvSpPr txBox="1"/>
          <p:nvPr/>
        </p:nvSpPr>
        <p:spPr>
          <a:xfrm>
            <a:off x="5715000" y="2688336"/>
            <a:ext cx="1969272" cy="3017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400">
                <a:solidFill>
                  <a:srgbClr val="24272B"/>
                </a:solidFill>
                <a:latin typeface="Aptos"/>
              </a:rPr>
              <a:t>Elementary expansion</a:t>
            </a:r>
          </a:p>
        </p:txBody>
      </p:sp>
      <p:sp>
        <p:nvSpPr>
          <p:cNvPr id="1048615" name="TextBox 16"/>
          <p:cNvSpPr txBox="1"/>
          <p:nvPr/>
        </p:nvSpPr>
        <p:spPr>
          <a:xfrm>
            <a:off x="4873752" y="3886200"/>
            <a:ext cx="2300117" cy="2763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200">
                <a:solidFill>
                  <a:srgbClr val="696F76"/>
                </a:solidFill>
                <a:latin typeface="Aptos"/>
              </a:rPr>
              <a:t>Grammar  •  Vocabulary  •  Kanji</a:t>
            </a:r>
          </a:p>
        </p:txBody>
      </p:sp>
      <p:cxnSp>
        <p:nvCxnSpPr>
          <p:cNvPr id="3145729" name="Connector 17"/>
          <p:cNvCxnSpPr>
            <a:cxnSpLocks/>
          </p:cNvCxnSpPr>
          <p:nvPr/>
        </p:nvCxnSpPr>
        <p:spPr>
          <a:xfrm>
            <a:off x="7891271" y="3566160"/>
            <a:ext cx="384049" cy="0"/>
          </a:xfrm>
          <a:prstGeom prst="line"/>
          <a:ln w="25400">
            <a:solidFill>
              <a:srgbClr val="C49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16" name="Rounded Rectangle 18"/>
          <p:cNvSpPr/>
          <p:nvPr/>
        </p:nvSpPr>
        <p:spPr>
          <a:xfrm>
            <a:off x="8366759" y="2331720"/>
            <a:ext cx="3246120" cy="242316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7" name="Oval 19"/>
          <p:cNvSpPr/>
          <p:nvPr/>
        </p:nvSpPr>
        <p:spPr>
          <a:xfrm>
            <a:off x="8595359" y="2606040"/>
            <a:ext cx="713232" cy="713232"/>
          </a:xfrm>
          <a:prstGeom prst="ellipse"/>
          <a:solidFill>
            <a:srgbClr val="4E7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8" name="TextBox 20"/>
          <p:cNvSpPr txBox="1"/>
          <p:nvPr/>
        </p:nvSpPr>
        <p:spPr>
          <a:xfrm>
            <a:off x="8595359" y="2786380"/>
            <a:ext cx="352553" cy="352552"/>
          </a:xfrm>
          <a:prstGeom prst="rect"/>
          <a:noFill/>
        </p:spPr>
        <p:txBody>
          <a:bodyPr anchor="ctr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700">
                <a:solidFill>
                  <a:srgbClr val="FFFFFF"/>
                </a:solidFill>
                <a:latin typeface="Aptos"/>
              </a:rPr>
              <a:t>N3</a:t>
            </a:r>
          </a:p>
        </p:txBody>
      </p:sp>
      <p:sp>
        <p:nvSpPr>
          <p:cNvPr id="1048619" name="TextBox 21"/>
          <p:cNvSpPr txBox="1"/>
          <p:nvPr/>
        </p:nvSpPr>
        <p:spPr>
          <a:xfrm>
            <a:off x="9464039" y="2688336"/>
            <a:ext cx="2395019" cy="3017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400">
                <a:solidFill>
                  <a:srgbClr val="24272B"/>
                </a:solidFill>
                <a:latin typeface="Aptos"/>
              </a:rPr>
              <a:t>Lower-intermediate growth</a:t>
            </a:r>
          </a:p>
        </p:txBody>
      </p:sp>
      <p:sp>
        <p:nvSpPr>
          <p:cNvPr id="1048620" name="TextBox 22"/>
          <p:cNvSpPr txBox="1"/>
          <p:nvPr/>
        </p:nvSpPr>
        <p:spPr>
          <a:xfrm>
            <a:off x="8622791" y="3886200"/>
            <a:ext cx="2300117" cy="2763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200">
                <a:solidFill>
                  <a:srgbClr val="696F76"/>
                </a:solidFill>
                <a:latin typeface="Aptos"/>
              </a:rPr>
              <a:t>Grammar  •  Vocabulary  •  Kanji</a:t>
            </a:r>
          </a:p>
        </p:txBody>
      </p:sp>
      <p:sp>
        <p:nvSpPr>
          <p:cNvPr id="1048621" name="TextBox 23"/>
          <p:cNvSpPr txBox="1"/>
          <p:nvPr/>
        </p:nvSpPr>
        <p:spPr>
          <a:xfrm>
            <a:off x="914400" y="5349240"/>
            <a:ext cx="7283379" cy="3525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700">
                <a:solidFill>
                  <a:srgbClr val="24272B"/>
                </a:solidFill>
                <a:latin typeface="Aptos"/>
              </a:rPr>
              <a:t>A consistent structure helps learners move from one level to the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27" name=""/>
        <p:cNvGrpSpPr/>
        <p:nvPr/>
      </p:nvGrpSpPr>
      <p:grpSpPr>
        <a:xfrm/>
      </p:grpSpPr>
      <p:sp>
        <p:nvSpPr>
          <p:cNvPr id="1048635" name="TextBox 1"/>
          <p:cNvSpPr txBox="1"/>
          <p:nvPr/>
        </p:nvSpPr>
        <p:spPr>
          <a:xfrm>
            <a:off x="640080" y="347472"/>
            <a:ext cx="952627" cy="2382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000">
                <a:solidFill>
                  <a:srgbClr val="BE3137"/>
                </a:solidFill>
                <a:latin typeface="Aptos"/>
              </a:rPr>
              <a:t>04 / FEATURES</a:t>
            </a:r>
          </a:p>
        </p:txBody>
      </p:sp>
      <p:sp>
        <p:nvSpPr>
          <p:cNvPr id="1048636" name="TextBox 2"/>
          <p:cNvSpPr txBox="1"/>
          <p:nvPr/>
        </p:nvSpPr>
        <p:spPr>
          <a:xfrm>
            <a:off x="640080" y="749808"/>
            <a:ext cx="3933159" cy="5303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2800">
                <a:solidFill>
                  <a:srgbClr val="24272B"/>
                </a:solidFill>
                <a:latin typeface="Aptos"/>
              </a:rPr>
              <a:t>Core learning sections</a:t>
            </a:r>
          </a:p>
        </p:txBody>
      </p:sp>
      <p:sp>
        <p:nvSpPr>
          <p:cNvPr id="1048637" name="TextBox 3"/>
          <p:cNvSpPr txBox="1"/>
          <p:nvPr/>
        </p:nvSpPr>
        <p:spPr>
          <a:xfrm>
            <a:off x="658368" y="1389888"/>
            <a:ext cx="5235703" cy="2890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300">
                <a:solidFill>
                  <a:srgbClr val="696F76"/>
                </a:solidFill>
                <a:latin typeface="Aptos"/>
              </a:rPr>
              <a:t>The current platform focuses on the building blocks of Japanese.</a:t>
            </a:r>
          </a:p>
        </p:txBody>
      </p:sp>
      <p:sp>
        <p:nvSpPr>
          <p:cNvPr id="1048638" name="TextBox 4"/>
          <p:cNvSpPr txBox="1"/>
          <p:nvPr/>
        </p:nvSpPr>
        <p:spPr>
          <a:xfrm>
            <a:off x="640080" y="6510528"/>
            <a:ext cx="2264497" cy="2001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800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1048639" name="TextBox 5"/>
          <p:cNvSpPr txBox="1"/>
          <p:nvPr/>
        </p:nvSpPr>
        <p:spPr>
          <a:xfrm>
            <a:off x="11064240" y="6473952"/>
            <a:ext cx="225553" cy="225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r">
              <a:spcAft>
                <a:spcPts val="0"/>
              </a:spcAft>
            </a:pPr>
            <a:r>
              <a:rPr b="1" sz="900">
                <a:solidFill>
                  <a:srgbClr val="696F76"/>
                </a:solidFill>
                <a:latin typeface="Aptos"/>
              </a:rPr>
              <a:t>05</a:t>
            </a:r>
          </a:p>
        </p:txBody>
      </p:sp>
      <p:sp>
        <p:nvSpPr>
          <p:cNvPr id="1048640" name="Rounded Rectangle 6"/>
          <p:cNvSpPr/>
          <p:nvPr/>
        </p:nvSpPr>
        <p:spPr>
          <a:xfrm>
            <a:off x="822960" y="2240280"/>
            <a:ext cx="3383280" cy="297180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1" name="Oval 7"/>
          <p:cNvSpPr/>
          <p:nvPr/>
        </p:nvSpPr>
        <p:spPr>
          <a:xfrm>
            <a:off x="1078992" y="2542032"/>
            <a:ext cx="804672" cy="804672"/>
          </a:xfrm>
          <a:prstGeom prst="ellipse"/>
          <a:solidFill>
            <a:srgbClr val="BE3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2" name="TextBox 8"/>
          <p:cNvSpPr txBox="1"/>
          <p:nvPr/>
        </p:nvSpPr>
        <p:spPr>
          <a:xfrm>
            <a:off x="1078992" y="2729991"/>
            <a:ext cx="352552" cy="428754"/>
          </a:xfrm>
          <a:prstGeom prst="rect"/>
          <a:noFill/>
        </p:spPr>
        <p:txBody>
          <a:bodyPr anchor="ctr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2200">
                <a:solidFill>
                  <a:srgbClr val="FFFFFF"/>
                </a:solidFill>
                <a:latin typeface="Aptos"/>
              </a:rPr>
              <a:t>あ</a:t>
            </a:r>
          </a:p>
        </p:txBody>
      </p:sp>
      <p:sp>
        <p:nvSpPr>
          <p:cNvPr id="1048643" name="TextBox 9"/>
          <p:cNvSpPr txBox="1"/>
          <p:nvPr/>
        </p:nvSpPr>
        <p:spPr>
          <a:xfrm>
            <a:off x="1078992" y="3547872"/>
            <a:ext cx="2743200" cy="438912"/>
          </a:xfrm>
          <a:prstGeom prst="rect"/>
          <a:noFill/>
        </p:spPr>
        <p:txBody>
          <a:bodyPr anchor="ctr" bIns="9144" lIns="18288" rIns="18288" tIns="9144" wrap="none">
            <a:noAutofit/>
          </a:bodyPr>
          <a:p>
            <a:pPr algn="l">
              <a:spcAft>
                <a:spcPts val="0"/>
              </a:spcAft>
            </a:pPr>
            <a:r>
              <a:rPr b="1" sz="1800">
                <a:solidFill>
                  <a:srgbClr val="24272B"/>
                </a:solidFill>
                <a:latin typeface="Aptos"/>
              </a:rPr>
              <a:t>Vocabulary</a:t>
            </a:r>
          </a:p>
        </p:txBody>
      </p:sp>
      <p:sp>
        <p:nvSpPr>
          <p:cNvPr id="1048644" name="TextBox 10"/>
          <p:cNvSpPr txBox="1"/>
          <p:nvPr/>
        </p:nvSpPr>
        <p:spPr>
          <a:xfrm>
            <a:off x="1078992" y="4096512"/>
            <a:ext cx="2743200" cy="731520"/>
          </a:xfrm>
          <a:prstGeom prst="rect"/>
          <a:noFill/>
        </p:spPr>
        <p:txBody>
          <a:bodyPr anchor="t" bIns="9144" lIns="18288" rIns="18288" tIns="9144" wrap="square">
            <a:noAutofit/>
          </a:bodyPr>
          <a:p>
            <a:pPr algn="l">
              <a:spcAft>
                <a:spcPts val="0"/>
              </a:spcAft>
            </a:pPr>
            <a:r>
              <a:rPr b="0" sz="1200">
                <a:solidFill>
                  <a:srgbClr val="696F76"/>
                </a:solidFill>
                <a:latin typeface="Aptos"/>
              </a:rPr>
              <a:t>Learn words with readings
and meanings.</a:t>
            </a:r>
          </a:p>
        </p:txBody>
      </p:sp>
      <p:sp>
        <p:nvSpPr>
          <p:cNvPr id="1048645" name="Rounded Rectangle 11"/>
          <p:cNvSpPr/>
          <p:nvPr/>
        </p:nvSpPr>
        <p:spPr>
          <a:xfrm>
            <a:off x="4617720" y="2240280"/>
            <a:ext cx="3383280" cy="297180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6" name="Oval 12"/>
          <p:cNvSpPr/>
          <p:nvPr/>
        </p:nvSpPr>
        <p:spPr>
          <a:xfrm>
            <a:off x="4873752" y="2542032"/>
            <a:ext cx="804672" cy="804672"/>
          </a:xfrm>
          <a:prstGeom prst="ellipse"/>
          <a:solidFill>
            <a:srgbClr val="4E7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7" name="TextBox 13"/>
          <p:cNvSpPr txBox="1"/>
          <p:nvPr/>
        </p:nvSpPr>
        <p:spPr>
          <a:xfrm>
            <a:off x="4873752" y="2729991"/>
            <a:ext cx="352553" cy="428754"/>
          </a:xfrm>
          <a:prstGeom prst="rect"/>
          <a:noFill/>
        </p:spPr>
        <p:txBody>
          <a:bodyPr anchor="ctr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2200">
                <a:solidFill>
                  <a:srgbClr val="FFFFFF"/>
                </a:solidFill>
                <a:latin typeface="Aptos"/>
              </a:rPr>
              <a:t>文</a:t>
            </a:r>
          </a:p>
        </p:txBody>
      </p:sp>
      <p:sp>
        <p:nvSpPr>
          <p:cNvPr id="1048648" name="TextBox 14"/>
          <p:cNvSpPr txBox="1"/>
          <p:nvPr/>
        </p:nvSpPr>
        <p:spPr>
          <a:xfrm>
            <a:off x="4873752" y="3547872"/>
            <a:ext cx="2743200" cy="438912"/>
          </a:xfrm>
          <a:prstGeom prst="rect"/>
          <a:noFill/>
        </p:spPr>
        <p:txBody>
          <a:bodyPr anchor="ctr" bIns="9144" lIns="18288" rIns="18288" tIns="9144" wrap="none">
            <a:noAutofit/>
          </a:bodyPr>
          <a:p>
            <a:pPr algn="l">
              <a:spcAft>
                <a:spcPts val="0"/>
              </a:spcAft>
            </a:pPr>
            <a:r>
              <a:rPr b="1" sz="1800">
                <a:solidFill>
                  <a:srgbClr val="24272B"/>
                </a:solidFill>
                <a:latin typeface="Aptos"/>
              </a:rPr>
              <a:t>Grammar</a:t>
            </a:r>
          </a:p>
        </p:txBody>
      </p:sp>
      <p:sp>
        <p:nvSpPr>
          <p:cNvPr id="1048649" name="TextBox 15"/>
          <p:cNvSpPr txBox="1"/>
          <p:nvPr/>
        </p:nvSpPr>
        <p:spPr>
          <a:xfrm>
            <a:off x="4873752" y="4096512"/>
            <a:ext cx="2743200" cy="731520"/>
          </a:xfrm>
          <a:prstGeom prst="rect"/>
          <a:noFill/>
        </p:spPr>
        <p:txBody>
          <a:bodyPr anchor="t" bIns="9144" lIns="18288" rIns="18288" tIns="9144" wrap="square">
            <a:noAutofit/>
          </a:bodyPr>
          <a:p>
            <a:pPr algn="l">
              <a:spcAft>
                <a:spcPts val="0"/>
              </a:spcAft>
            </a:pPr>
            <a:r>
              <a:rPr b="0" sz="1200">
                <a:solidFill>
                  <a:srgbClr val="696F76"/>
                </a:solidFill>
                <a:latin typeface="Aptos"/>
              </a:rPr>
              <a:t>Study patterns and
example sentences.</a:t>
            </a:r>
          </a:p>
        </p:txBody>
      </p:sp>
      <p:sp>
        <p:nvSpPr>
          <p:cNvPr id="1048650" name="Rounded Rectangle 16"/>
          <p:cNvSpPr/>
          <p:nvPr/>
        </p:nvSpPr>
        <p:spPr>
          <a:xfrm>
            <a:off x="8412480" y="2240280"/>
            <a:ext cx="3383280" cy="297180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1" name="Oval 17"/>
          <p:cNvSpPr/>
          <p:nvPr/>
        </p:nvSpPr>
        <p:spPr>
          <a:xfrm>
            <a:off x="8668512" y="2542032"/>
            <a:ext cx="804672" cy="804672"/>
          </a:xfrm>
          <a:prstGeom prst="ellipse"/>
          <a:solidFill>
            <a:srgbClr val="C49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2" name="TextBox 18"/>
          <p:cNvSpPr txBox="1"/>
          <p:nvPr/>
        </p:nvSpPr>
        <p:spPr>
          <a:xfrm>
            <a:off x="8668511" y="2729991"/>
            <a:ext cx="352553" cy="428754"/>
          </a:xfrm>
          <a:prstGeom prst="rect"/>
          <a:noFill/>
        </p:spPr>
        <p:txBody>
          <a:bodyPr anchor="ctr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2200">
                <a:solidFill>
                  <a:srgbClr val="FFFFFF"/>
                </a:solidFill>
                <a:latin typeface="Aptos"/>
              </a:rPr>
              <a:t>漢</a:t>
            </a:r>
          </a:p>
        </p:txBody>
      </p:sp>
      <p:sp>
        <p:nvSpPr>
          <p:cNvPr id="1048653" name="TextBox 19"/>
          <p:cNvSpPr txBox="1"/>
          <p:nvPr/>
        </p:nvSpPr>
        <p:spPr>
          <a:xfrm>
            <a:off x="8668511" y="3547872"/>
            <a:ext cx="2743200" cy="438912"/>
          </a:xfrm>
          <a:prstGeom prst="rect"/>
          <a:noFill/>
        </p:spPr>
        <p:txBody>
          <a:bodyPr anchor="ctr" bIns="9144" lIns="18288" rIns="18288" tIns="9144" wrap="none">
            <a:noAutofit/>
          </a:bodyPr>
          <a:p>
            <a:pPr algn="l">
              <a:spcAft>
                <a:spcPts val="0"/>
              </a:spcAft>
            </a:pPr>
            <a:r>
              <a:rPr b="1" sz="1800">
                <a:solidFill>
                  <a:srgbClr val="24272B"/>
                </a:solidFill>
                <a:latin typeface="Aptos"/>
              </a:rPr>
              <a:t>Kanji</a:t>
            </a:r>
          </a:p>
        </p:txBody>
      </p:sp>
      <p:sp>
        <p:nvSpPr>
          <p:cNvPr id="1048654" name="TextBox 20"/>
          <p:cNvSpPr txBox="1"/>
          <p:nvPr/>
        </p:nvSpPr>
        <p:spPr>
          <a:xfrm>
            <a:off x="8668511" y="4096512"/>
            <a:ext cx="2743200" cy="731520"/>
          </a:xfrm>
          <a:prstGeom prst="rect"/>
          <a:noFill/>
        </p:spPr>
        <p:txBody>
          <a:bodyPr anchor="t" bIns="9144" lIns="18288" rIns="18288" tIns="9144" wrap="square">
            <a:noAutofit/>
          </a:bodyPr>
          <a:p>
            <a:pPr algn="l">
              <a:spcAft>
                <a:spcPts val="0"/>
              </a:spcAft>
            </a:pPr>
            <a:r>
              <a:rPr b="0" sz="1200">
                <a:solidFill>
                  <a:srgbClr val="696F76"/>
                </a:solidFill>
                <a:latin typeface="Aptos"/>
              </a:rPr>
              <a:t>Explore characters,
readings and meanings.</a:t>
            </a:r>
          </a:p>
        </p:txBody>
      </p:sp>
      <p:sp>
        <p:nvSpPr>
          <p:cNvPr id="1048655" name="TextBox 21"/>
          <p:cNvSpPr txBox="1"/>
          <p:nvPr/>
        </p:nvSpPr>
        <p:spPr>
          <a:xfrm>
            <a:off x="914400" y="5623560"/>
            <a:ext cx="4270651" cy="3017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400">
                <a:solidFill>
                  <a:srgbClr val="BE3137"/>
                </a:solidFill>
                <a:latin typeface="Aptos"/>
              </a:rPr>
              <a:t>Content is grouped by JLPT level: N5, N4 and N3.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29" name=""/>
        <p:cNvGrpSpPr/>
        <p:nvPr/>
      </p:nvGrpSpPr>
      <p:grpSpPr>
        <a:xfrm/>
      </p:grpSpPr>
      <p:sp>
        <p:nvSpPr>
          <p:cNvPr id="1048672" name="TextBox 1"/>
          <p:cNvSpPr txBox="1"/>
          <p:nvPr/>
        </p:nvSpPr>
        <p:spPr>
          <a:xfrm>
            <a:off x="640080" y="347472"/>
            <a:ext cx="1158903" cy="2382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000">
                <a:solidFill>
                  <a:srgbClr val="BE3137"/>
                </a:solidFill>
                <a:latin typeface="Aptos"/>
              </a:rPr>
              <a:t>05 / TECHNOLOGY</a:t>
            </a:r>
          </a:p>
        </p:txBody>
      </p:sp>
      <p:sp>
        <p:nvSpPr>
          <p:cNvPr id="1048673" name="TextBox 2"/>
          <p:cNvSpPr txBox="1"/>
          <p:nvPr/>
        </p:nvSpPr>
        <p:spPr>
          <a:xfrm>
            <a:off x="640080" y="749808"/>
            <a:ext cx="3113711" cy="5303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2800">
                <a:solidFill>
                  <a:srgbClr val="24272B"/>
                </a:solidFill>
                <a:latin typeface="Aptos"/>
              </a:rPr>
              <a:t>Technology stack</a:t>
            </a:r>
          </a:p>
        </p:txBody>
      </p:sp>
      <p:sp>
        <p:nvSpPr>
          <p:cNvPr id="1048674" name="TextBox 3"/>
          <p:cNvSpPr txBox="1"/>
          <p:nvPr/>
        </p:nvSpPr>
        <p:spPr>
          <a:xfrm>
            <a:off x="658368" y="1389888"/>
            <a:ext cx="3491685" cy="2890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300">
                <a:solidFill>
                  <a:srgbClr val="696F76"/>
                </a:solidFill>
                <a:latin typeface="Aptos"/>
              </a:rPr>
              <a:t>A JavaScript-based full-stack architecture.</a:t>
            </a:r>
          </a:p>
        </p:txBody>
      </p:sp>
      <p:sp>
        <p:nvSpPr>
          <p:cNvPr id="1048675" name="TextBox 4"/>
          <p:cNvSpPr txBox="1"/>
          <p:nvPr/>
        </p:nvSpPr>
        <p:spPr>
          <a:xfrm>
            <a:off x="640080" y="6510528"/>
            <a:ext cx="2264497" cy="2001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800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1048676" name="TextBox 5"/>
          <p:cNvSpPr txBox="1"/>
          <p:nvPr/>
        </p:nvSpPr>
        <p:spPr>
          <a:xfrm>
            <a:off x="11064240" y="6473952"/>
            <a:ext cx="225553" cy="225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r">
              <a:spcAft>
                <a:spcPts val="0"/>
              </a:spcAft>
            </a:pPr>
            <a:r>
              <a:rPr b="1" sz="900">
                <a:solidFill>
                  <a:srgbClr val="696F76"/>
                </a:solidFill>
                <a:latin typeface="Aptos"/>
              </a:rPr>
              <a:t>06</a:t>
            </a:r>
          </a:p>
        </p:txBody>
      </p:sp>
      <p:sp>
        <p:nvSpPr>
          <p:cNvPr id="1048677" name="Rounded Rectangle 6"/>
          <p:cNvSpPr/>
          <p:nvPr/>
        </p:nvSpPr>
        <p:spPr>
          <a:xfrm>
            <a:off x="822960" y="2057400"/>
            <a:ext cx="10561320" cy="658368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8" name="Rounded Rectangle 7"/>
          <p:cNvSpPr/>
          <p:nvPr/>
        </p:nvSpPr>
        <p:spPr>
          <a:xfrm>
            <a:off x="1051560" y="2231136"/>
            <a:ext cx="1325880" cy="310896"/>
          </a:xfrm>
          <a:prstGeom prst="roundRect"/>
          <a:solidFill>
            <a:srgbClr val="F8E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9" name="TextBox 8"/>
          <p:cNvSpPr txBox="1"/>
          <p:nvPr/>
        </p:nvSpPr>
        <p:spPr>
          <a:xfrm>
            <a:off x="1097280" y="2263140"/>
            <a:ext cx="644653" cy="225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900">
                <a:solidFill>
                  <a:srgbClr val="BE3137"/>
                </a:solidFill>
                <a:latin typeface="Aptos"/>
              </a:rPr>
              <a:t>FRONTEND</a:t>
            </a:r>
          </a:p>
        </p:txBody>
      </p:sp>
      <p:sp>
        <p:nvSpPr>
          <p:cNvPr id="1048680" name="TextBox 9"/>
          <p:cNvSpPr txBox="1"/>
          <p:nvPr/>
        </p:nvSpPr>
        <p:spPr>
          <a:xfrm>
            <a:off x="2697480" y="2185416"/>
            <a:ext cx="1344641" cy="352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700">
                <a:solidFill>
                  <a:srgbClr val="24272B"/>
                </a:solidFill>
                <a:latin typeface="Aptos"/>
              </a:rPr>
              <a:t>React + Vite</a:t>
            </a:r>
          </a:p>
        </p:txBody>
      </p:sp>
      <p:sp>
        <p:nvSpPr>
          <p:cNvPr id="1048681" name="TextBox 10"/>
          <p:cNvSpPr txBox="1"/>
          <p:nvPr/>
        </p:nvSpPr>
        <p:spPr>
          <a:xfrm>
            <a:off x="5486400" y="2221992"/>
            <a:ext cx="3448872" cy="2890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300">
                <a:solidFill>
                  <a:srgbClr val="696F76"/>
                </a:solidFill>
                <a:latin typeface="Aptos"/>
              </a:rPr>
              <a:t>User interface and client-side interactions</a:t>
            </a:r>
          </a:p>
        </p:txBody>
      </p:sp>
      <p:sp>
        <p:nvSpPr>
          <p:cNvPr id="1048682" name="Rounded Rectangle 11"/>
          <p:cNvSpPr/>
          <p:nvPr/>
        </p:nvSpPr>
        <p:spPr>
          <a:xfrm>
            <a:off x="822960" y="2926080"/>
            <a:ext cx="10561320" cy="658368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3" name="Rounded Rectangle 12"/>
          <p:cNvSpPr/>
          <p:nvPr/>
        </p:nvSpPr>
        <p:spPr>
          <a:xfrm>
            <a:off x="1051560" y="3099816"/>
            <a:ext cx="1325880" cy="310896"/>
          </a:xfrm>
          <a:prstGeom prst="roundRect"/>
          <a:solidFill>
            <a:srgbClr val="EE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4" name="TextBox 13"/>
          <p:cNvSpPr txBox="1"/>
          <p:nvPr/>
        </p:nvSpPr>
        <p:spPr>
          <a:xfrm>
            <a:off x="1097280" y="3131820"/>
            <a:ext cx="514229" cy="225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900">
                <a:solidFill>
                  <a:srgbClr val="C4974D"/>
                </a:solidFill>
                <a:latin typeface="Aptos"/>
              </a:rPr>
              <a:t>STYLING</a:t>
            </a:r>
          </a:p>
        </p:txBody>
      </p:sp>
      <p:sp>
        <p:nvSpPr>
          <p:cNvPr id="1048685" name="TextBox 14"/>
          <p:cNvSpPr txBox="1"/>
          <p:nvPr/>
        </p:nvSpPr>
        <p:spPr>
          <a:xfrm>
            <a:off x="2697480" y="3054096"/>
            <a:ext cx="1349751" cy="352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700">
                <a:solidFill>
                  <a:srgbClr val="24272B"/>
                </a:solidFill>
                <a:latin typeface="Aptos"/>
              </a:rPr>
              <a:t>Tailwind CSS</a:t>
            </a:r>
          </a:p>
        </p:txBody>
      </p:sp>
      <p:sp>
        <p:nvSpPr>
          <p:cNvPr id="1048686" name="TextBox 15"/>
          <p:cNvSpPr txBox="1"/>
          <p:nvPr/>
        </p:nvSpPr>
        <p:spPr>
          <a:xfrm>
            <a:off x="5486400" y="3090672"/>
            <a:ext cx="2912496" cy="2890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300">
                <a:solidFill>
                  <a:srgbClr val="696F76"/>
                </a:solidFill>
                <a:latin typeface="Aptos"/>
              </a:rPr>
              <a:t>Responsive layout and visual design</a:t>
            </a:r>
          </a:p>
        </p:txBody>
      </p:sp>
      <p:sp>
        <p:nvSpPr>
          <p:cNvPr id="1048687" name="Rounded Rectangle 16"/>
          <p:cNvSpPr/>
          <p:nvPr/>
        </p:nvSpPr>
        <p:spPr>
          <a:xfrm>
            <a:off x="822960" y="3794760"/>
            <a:ext cx="10561320" cy="658368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8" name="Rounded Rectangle 17"/>
          <p:cNvSpPr/>
          <p:nvPr/>
        </p:nvSpPr>
        <p:spPr>
          <a:xfrm>
            <a:off x="1051560" y="3968496"/>
            <a:ext cx="1325880" cy="310896"/>
          </a:xfrm>
          <a:prstGeom prst="roundRect"/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9" name="TextBox 18"/>
          <p:cNvSpPr txBox="1"/>
          <p:nvPr/>
        </p:nvSpPr>
        <p:spPr>
          <a:xfrm>
            <a:off x="1097280" y="4000500"/>
            <a:ext cx="579416" cy="225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900">
                <a:solidFill>
                  <a:srgbClr val="4E7968"/>
                </a:solidFill>
                <a:latin typeface="Aptos"/>
              </a:rPr>
              <a:t>BACKEND</a:t>
            </a:r>
          </a:p>
        </p:txBody>
      </p:sp>
      <p:sp>
        <p:nvSpPr>
          <p:cNvPr id="1048690" name="TextBox 19"/>
          <p:cNvSpPr txBox="1"/>
          <p:nvPr/>
        </p:nvSpPr>
        <p:spPr>
          <a:xfrm>
            <a:off x="2697480" y="3922776"/>
            <a:ext cx="1896595" cy="352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700">
                <a:solidFill>
                  <a:srgbClr val="24272B"/>
                </a:solidFill>
                <a:latin typeface="Aptos"/>
              </a:rPr>
              <a:t>Node.js + Express</a:t>
            </a:r>
          </a:p>
        </p:txBody>
      </p:sp>
      <p:sp>
        <p:nvSpPr>
          <p:cNvPr id="1048691" name="TextBox 20"/>
          <p:cNvSpPr txBox="1"/>
          <p:nvPr/>
        </p:nvSpPr>
        <p:spPr>
          <a:xfrm>
            <a:off x="5486400" y="3959352"/>
            <a:ext cx="2582742" cy="2890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300">
                <a:solidFill>
                  <a:srgbClr val="696F76"/>
                </a:solidFill>
                <a:latin typeface="Aptos"/>
              </a:rPr>
              <a:t>REST API and server-side routes</a:t>
            </a:r>
          </a:p>
        </p:txBody>
      </p:sp>
      <p:sp>
        <p:nvSpPr>
          <p:cNvPr id="1048692" name="Rounded Rectangle 21"/>
          <p:cNvSpPr/>
          <p:nvPr/>
        </p:nvSpPr>
        <p:spPr>
          <a:xfrm>
            <a:off x="822960" y="4663440"/>
            <a:ext cx="10561320" cy="658368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3" name="Rounded Rectangle 22"/>
          <p:cNvSpPr/>
          <p:nvPr/>
        </p:nvSpPr>
        <p:spPr>
          <a:xfrm>
            <a:off x="1051560" y="4837176"/>
            <a:ext cx="1325880" cy="310896"/>
          </a:xfrm>
          <a:prstGeom prst="roundRect"/>
          <a:solidFill>
            <a:srgbClr val="EE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4" name="TextBox 23"/>
          <p:cNvSpPr txBox="1"/>
          <p:nvPr/>
        </p:nvSpPr>
        <p:spPr>
          <a:xfrm>
            <a:off x="1097280" y="4869180"/>
            <a:ext cx="638104" cy="225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900">
                <a:solidFill>
                  <a:srgbClr val="547596"/>
                </a:solidFill>
                <a:latin typeface="Aptos"/>
              </a:rPr>
              <a:t>DATABASE</a:t>
            </a:r>
          </a:p>
        </p:txBody>
      </p:sp>
      <p:sp>
        <p:nvSpPr>
          <p:cNvPr id="1048695" name="TextBox 24"/>
          <p:cNvSpPr txBox="1"/>
          <p:nvPr/>
        </p:nvSpPr>
        <p:spPr>
          <a:xfrm>
            <a:off x="2697480" y="4791455"/>
            <a:ext cx="1662984" cy="352551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700">
                <a:solidFill>
                  <a:srgbClr val="24272B"/>
                </a:solidFill>
                <a:latin typeface="Aptos"/>
              </a:rPr>
              <a:t>MongoDB Atlas</a:t>
            </a:r>
          </a:p>
        </p:txBody>
      </p:sp>
      <p:sp>
        <p:nvSpPr>
          <p:cNvPr id="1048696" name="TextBox 25"/>
          <p:cNvSpPr txBox="1"/>
          <p:nvPr/>
        </p:nvSpPr>
        <p:spPr>
          <a:xfrm>
            <a:off x="5486400" y="4828031"/>
            <a:ext cx="3590606" cy="289051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300">
                <a:solidFill>
                  <a:srgbClr val="696F76"/>
                </a:solidFill>
                <a:latin typeface="Aptos"/>
              </a:rPr>
              <a:t>Store structured Japanese learning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30" name=""/>
        <p:cNvGrpSpPr/>
        <p:nvPr/>
      </p:nvGrpSpPr>
      <p:grpSpPr>
        <a:xfrm/>
      </p:grpSpPr>
      <p:sp>
        <p:nvSpPr>
          <p:cNvPr id="1048697" name="TextBox 1"/>
          <p:cNvSpPr txBox="1"/>
          <p:nvPr/>
        </p:nvSpPr>
        <p:spPr>
          <a:xfrm>
            <a:off x="640080" y="347472"/>
            <a:ext cx="1239370" cy="2382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000">
                <a:solidFill>
                  <a:srgbClr val="BE3137"/>
                </a:solidFill>
                <a:latin typeface="Aptos"/>
              </a:rPr>
              <a:t>06 / ARCHITECTURE</a:t>
            </a:r>
          </a:p>
        </p:txBody>
      </p:sp>
      <p:sp>
        <p:nvSpPr>
          <p:cNvPr id="1048698" name="TextBox 2"/>
          <p:cNvSpPr txBox="1"/>
          <p:nvPr/>
        </p:nvSpPr>
        <p:spPr>
          <a:xfrm>
            <a:off x="640080" y="749808"/>
            <a:ext cx="4596635" cy="5303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2800">
                <a:solidFill>
                  <a:srgbClr val="24272B"/>
                </a:solidFill>
                <a:latin typeface="Aptos"/>
              </a:rPr>
              <a:t>How the application works</a:t>
            </a:r>
          </a:p>
        </p:txBody>
      </p:sp>
      <p:sp>
        <p:nvSpPr>
          <p:cNvPr id="1048699" name="TextBox 3"/>
          <p:cNvSpPr txBox="1"/>
          <p:nvPr/>
        </p:nvSpPr>
        <p:spPr>
          <a:xfrm>
            <a:off x="658368" y="1389888"/>
            <a:ext cx="5021192" cy="2890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300">
                <a:solidFill>
                  <a:srgbClr val="696F76"/>
                </a:solidFill>
                <a:latin typeface="Aptos"/>
              </a:rPr>
              <a:t>The frontend requests learning content from the backend API.</a:t>
            </a:r>
          </a:p>
        </p:txBody>
      </p:sp>
      <p:sp>
        <p:nvSpPr>
          <p:cNvPr id="1048700" name="TextBox 4"/>
          <p:cNvSpPr txBox="1"/>
          <p:nvPr/>
        </p:nvSpPr>
        <p:spPr>
          <a:xfrm>
            <a:off x="640080" y="6510528"/>
            <a:ext cx="2264497" cy="2001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800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1048701" name="TextBox 5"/>
          <p:cNvSpPr txBox="1"/>
          <p:nvPr/>
        </p:nvSpPr>
        <p:spPr>
          <a:xfrm>
            <a:off x="11064240" y="6473952"/>
            <a:ext cx="225553" cy="225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r">
              <a:spcAft>
                <a:spcPts val="0"/>
              </a:spcAft>
            </a:pPr>
            <a:r>
              <a:rPr b="1" sz="900">
                <a:solidFill>
                  <a:srgbClr val="696F76"/>
                </a:solidFill>
                <a:latin typeface="Aptos"/>
              </a:rPr>
              <a:t>07</a:t>
            </a:r>
          </a:p>
        </p:txBody>
      </p:sp>
      <p:sp>
        <p:nvSpPr>
          <p:cNvPr id="1048702" name="Rounded Rectangle 6"/>
          <p:cNvSpPr/>
          <p:nvPr/>
        </p:nvSpPr>
        <p:spPr>
          <a:xfrm>
            <a:off x="777240" y="2743200"/>
            <a:ext cx="2331720" cy="123444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3" name="TextBox 7"/>
          <p:cNvSpPr txBox="1"/>
          <p:nvPr/>
        </p:nvSpPr>
        <p:spPr>
          <a:xfrm>
            <a:off x="914400" y="2926080"/>
            <a:ext cx="390653" cy="2382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000">
                <a:solidFill>
                  <a:srgbClr val="BE3137"/>
                </a:solidFill>
                <a:latin typeface="Aptos"/>
              </a:rPr>
              <a:t>USER</a:t>
            </a:r>
          </a:p>
        </p:txBody>
      </p:sp>
      <p:sp>
        <p:nvSpPr>
          <p:cNvPr id="1048704" name="TextBox 8"/>
          <p:cNvSpPr txBox="1"/>
          <p:nvPr/>
        </p:nvSpPr>
        <p:spPr>
          <a:xfrm>
            <a:off x="914400" y="3310128"/>
            <a:ext cx="808959" cy="3398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600">
                <a:solidFill>
                  <a:srgbClr val="24272B"/>
                </a:solidFill>
                <a:latin typeface="Aptos"/>
              </a:rPr>
              <a:t>Learner</a:t>
            </a:r>
          </a:p>
        </p:txBody>
      </p:sp>
      <p:sp>
        <p:nvSpPr>
          <p:cNvPr id="1048705" name="Rounded Rectangle 9"/>
          <p:cNvSpPr/>
          <p:nvPr/>
        </p:nvSpPr>
        <p:spPr>
          <a:xfrm>
            <a:off x="3657600" y="2743200"/>
            <a:ext cx="2514600" cy="123444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6" name="TextBox 10"/>
          <p:cNvSpPr txBox="1"/>
          <p:nvPr/>
        </p:nvSpPr>
        <p:spPr>
          <a:xfrm>
            <a:off x="3794760" y="2926080"/>
            <a:ext cx="720852" cy="2382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000">
                <a:solidFill>
                  <a:srgbClr val="C4974D"/>
                </a:solidFill>
                <a:latin typeface="Aptos"/>
              </a:rPr>
              <a:t>FRONTEND</a:t>
            </a:r>
          </a:p>
        </p:txBody>
      </p:sp>
      <p:sp>
        <p:nvSpPr>
          <p:cNvPr id="1048707" name="TextBox 11"/>
          <p:cNvSpPr txBox="1"/>
          <p:nvPr/>
        </p:nvSpPr>
        <p:spPr>
          <a:xfrm>
            <a:off x="3794760" y="3310128"/>
            <a:ext cx="1243685" cy="3398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600">
                <a:solidFill>
                  <a:srgbClr val="24272B"/>
                </a:solidFill>
                <a:latin typeface="Aptos"/>
              </a:rPr>
              <a:t>React + Vite</a:t>
            </a:r>
          </a:p>
        </p:txBody>
      </p:sp>
      <p:sp>
        <p:nvSpPr>
          <p:cNvPr id="1048708" name="Rounded Rectangle 12"/>
          <p:cNvSpPr/>
          <p:nvPr/>
        </p:nvSpPr>
        <p:spPr>
          <a:xfrm>
            <a:off x="6720840" y="2743200"/>
            <a:ext cx="2240280" cy="123444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9" name="TextBox 13"/>
          <p:cNvSpPr txBox="1"/>
          <p:nvPr/>
        </p:nvSpPr>
        <p:spPr>
          <a:xfrm>
            <a:off x="6858000" y="2926080"/>
            <a:ext cx="642718" cy="2382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000">
                <a:solidFill>
                  <a:srgbClr val="4E7968"/>
                </a:solidFill>
                <a:latin typeface="Aptos"/>
              </a:rPr>
              <a:t>BACKEND</a:t>
            </a:r>
          </a:p>
        </p:txBody>
      </p:sp>
      <p:sp>
        <p:nvSpPr>
          <p:cNvPr id="1048710" name="TextBox 14"/>
          <p:cNvSpPr txBox="1"/>
          <p:nvPr/>
        </p:nvSpPr>
        <p:spPr>
          <a:xfrm>
            <a:off x="6858000" y="3310128"/>
            <a:ext cx="1174382" cy="3398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600">
                <a:solidFill>
                  <a:srgbClr val="24272B"/>
                </a:solidFill>
                <a:latin typeface="Aptos"/>
              </a:rPr>
              <a:t>Express API</a:t>
            </a:r>
          </a:p>
        </p:txBody>
      </p:sp>
      <p:sp>
        <p:nvSpPr>
          <p:cNvPr id="1048711" name="Rounded Rectangle 15"/>
          <p:cNvSpPr/>
          <p:nvPr/>
        </p:nvSpPr>
        <p:spPr>
          <a:xfrm>
            <a:off x="9464040" y="2743200"/>
            <a:ext cx="1965960" cy="123444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2" name="TextBox 16"/>
          <p:cNvSpPr txBox="1"/>
          <p:nvPr/>
        </p:nvSpPr>
        <p:spPr>
          <a:xfrm>
            <a:off x="9601200" y="2926080"/>
            <a:ext cx="686770" cy="2382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000">
                <a:solidFill>
                  <a:srgbClr val="547596"/>
                </a:solidFill>
                <a:latin typeface="Aptos"/>
              </a:rPr>
              <a:t>DATABASE</a:t>
            </a:r>
          </a:p>
        </p:txBody>
      </p:sp>
      <p:sp>
        <p:nvSpPr>
          <p:cNvPr id="1048713" name="TextBox 17"/>
          <p:cNvSpPr txBox="1"/>
          <p:nvPr/>
        </p:nvSpPr>
        <p:spPr>
          <a:xfrm>
            <a:off x="9601200" y="3310128"/>
            <a:ext cx="1033292" cy="3398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600">
                <a:solidFill>
                  <a:srgbClr val="24272B"/>
                </a:solidFill>
                <a:latin typeface="Aptos"/>
              </a:rPr>
              <a:t>MongoDB</a:t>
            </a:r>
          </a:p>
        </p:txBody>
      </p:sp>
      <p:cxnSp>
        <p:nvCxnSpPr>
          <p:cNvPr id="3145732" name="Connector 18"/>
          <p:cNvCxnSpPr>
            <a:cxnSpLocks/>
          </p:cNvCxnSpPr>
          <p:nvPr/>
        </p:nvCxnSpPr>
        <p:spPr>
          <a:xfrm>
            <a:off x="3108960" y="3364992"/>
            <a:ext cx="548640" cy="0"/>
          </a:xfrm>
          <a:prstGeom prst="line"/>
          <a:ln w="25400">
            <a:solidFill>
              <a:srgbClr val="696F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3" name="Connector 19"/>
          <p:cNvCxnSpPr>
            <a:cxnSpLocks/>
          </p:cNvCxnSpPr>
          <p:nvPr/>
        </p:nvCxnSpPr>
        <p:spPr>
          <a:xfrm>
            <a:off x="6172200" y="3364992"/>
            <a:ext cx="548640" cy="0"/>
          </a:xfrm>
          <a:prstGeom prst="line"/>
          <a:ln w="25400">
            <a:solidFill>
              <a:srgbClr val="696F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4" name="Connector 20"/>
          <p:cNvCxnSpPr>
            <a:cxnSpLocks/>
          </p:cNvCxnSpPr>
          <p:nvPr/>
        </p:nvCxnSpPr>
        <p:spPr>
          <a:xfrm>
            <a:off x="8961120" y="3364992"/>
            <a:ext cx="502920" cy="0"/>
          </a:xfrm>
          <a:prstGeom prst="line"/>
          <a:ln w="25400">
            <a:solidFill>
              <a:srgbClr val="696F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14" name="TextBox 21"/>
          <p:cNvSpPr txBox="1"/>
          <p:nvPr/>
        </p:nvSpPr>
        <p:spPr>
          <a:xfrm>
            <a:off x="3090672" y="2331720"/>
            <a:ext cx="541812" cy="225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0" sz="900">
                <a:solidFill>
                  <a:srgbClr val="696F76"/>
                </a:solidFill>
                <a:latin typeface="Aptos"/>
              </a:rPr>
              <a:t>Request</a:t>
            </a:r>
          </a:p>
        </p:txBody>
      </p:sp>
      <p:sp>
        <p:nvSpPr>
          <p:cNvPr id="1048715" name="TextBox 22"/>
          <p:cNvSpPr txBox="1"/>
          <p:nvPr/>
        </p:nvSpPr>
        <p:spPr>
          <a:xfrm>
            <a:off x="6236208" y="2331720"/>
            <a:ext cx="441452" cy="225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0" sz="900">
                <a:solidFill>
                  <a:srgbClr val="696F76"/>
                </a:solidFill>
                <a:latin typeface="Aptos"/>
              </a:rPr>
              <a:t>API call</a:t>
            </a:r>
          </a:p>
        </p:txBody>
      </p:sp>
      <p:sp>
        <p:nvSpPr>
          <p:cNvPr id="1048716" name="TextBox 23"/>
          <p:cNvSpPr txBox="1"/>
          <p:nvPr/>
        </p:nvSpPr>
        <p:spPr>
          <a:xfrm>
            <a:off x="9006840" y="2331720"/>
            <a:ext cx="403353" cy="225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0" sz="900">
                <a:solidFill>
                  <a:srgbClr val="696F76"/>
                </a:solidFill>
                <a:latin typeface="Aptos"/>
              </a:rPr>
              <a:t>Query</a:t>
            </a:r>
          </a:p>
        </p:txBody>
      </p:sp>
      <p:sp>
        <p:nvSpPr>
          <p:cNvPr id="1048717" name="TextBox 24"/>
          <p:cNvSpPr txBox="1"/>
          <p:nvPr/>
        </p:nvSpPr>
        <p:spPr>
          <a:xfrm>
            <a:off x="914400" y="4800600"/>
            <a:ext cx="7189865" cy="3398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600">
                <a:solidFill>
                  <a:srgbClr val="24272B"/>
                </a:solidFill>
                <a:latin typeface="Aptos"/>
              </a:rPr>
              <a:t>Response data flows back to the frontend and is displayed to the learner.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31" name=""/>
        <p:cNvGrpSpPr/>
        <p:nvPr/>
      </p:nvGrpSpPr>
      <p:grpSpPr>
        <a:xfrm/>
      </p:grpSpPr>
      <p:sp>
        <p:nvSpPr>
          <p:cNvPr id="1048718" name="TextBox 1"/>
          <p:cNvSpPr txBox="1"/>
          <p:nvPr/>
        </p:nvSpPr>
        <p:spPr>
          <a:xfrm>
            <a:off x="640080" y="347472"/>
            <a:ext cx="1380607" cy="2382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000">
                <a:solidFill>
                  <a:srgbClr val="BE3137"/>
                </a:solidFill>
                <a:latin typeface="Aptos"/>
              </a:rPr>
              <a:t>07 / DEMONSTRATION</a:t>
            </a:r>
          </a:p>
        </p:txBody>
      </p:sp>
      <p:sp>
        <p:nvSpPr>
          <p:cNvPr id="1048719" name="TextBox 2"/>
          <p:cNvSpPr txBox="1"/>
          <p:nvPr/>
        </p:nvSpPr>
        <p:spPr>
          <a:xfrm>
            <a:off x="640080" y="749808"/>
            <a:ext cx="3151365" cy="5303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2800">
                <a:solidFill>
                  <a:srgbClr val="24272B"/>
                </a:solidFill>
                <a:latin typeface="Aptos"/>
              </a:rPr>
              <a:t>Live project demo</a:t>
            </a:r>
          </a:p>
        </p:txBody>
      </p:sp>
      <p:sp>
        <p:nvSpPr>
          <p:cNvPr id="1048720" name="TextBox 3"/>
          <p:cNvSpPr txBox="1"/>
          <p:nvPr/>
        </p:nvSpPr>
        <p:spPr>
          <a:xfrm>
            <a:off x="658368" y="1389888"/>
            <a:ext cx="5708679" cy="289053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300">
                <a:solidFill>
                  <a:srgbClr val="696F76"/>
                </a:solidFill>
                <a:latin typeface="Aptos"/>
              </a:rPr>
              <a:t>Open the deployed application and walk through the main learning flow.</a:t>
            </a:r>
          </a:p>
        </p:txBody>
      </p:sp>
      <p:sp>
        <p:nvSpPr>
          <p:cNvPr id="1048721" name="TextBox 4"/>
          <p:cNvSpPr txBox="1"/>
          <p:nvPr/>
        </p:nvSpPr>
        <p:spPr>
          <a:xfrm>
            <a:off x="640080" y="6510528"/>
            <a:ext cx="2264497" cy="2001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800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1048722" name="TextBox 5"/>
          <p:cNvSpPr txBox="1"/>
          <p:nvPr/>
        </p:nvSpPr>
        <p:spPr>
          <a:xfrm>
            <a:off x="11064240" y="6473952"/>
            <a:ext cx="225553" cy="225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r">
              <a:spcAft>
                <a:spcPts val="0"/>
              </a:spcAft>
            </a:pPr>
            <a:r>
              <a:rPr b="1" sz="900">
                <a:solidFill>
                  <a:srgbClr val="696F76"/>
                </a:solidFill>
                <a:latin typeface="Aptos"/>
              </a:rPr>
              <a:t>08</a:t>
            </a:r>
          </a:p>
        </p:txBody>
      </p:sp>
      <p:sp>
        <p:nvSpPr>
          <p:cNvPr id="1048723" name="Rounded Rectangle 6"/>
          <p:cNvSpPr/>
          <p:nvPr/>
        </p:nvSpPr>
        <p:spPr>
          <a:xfrm>
            <a:off x="822960" y="2148840"/>
            <a:ext cx="6492240" cy="3291840"/>
          </a:xfrm>
          <a:prstGeom prst="roundRect"/>
          <a:solidFill>
            <a:srgbClr val="1F2328"/>
          </a:solidFill>
          <a:ln w="10160">
            <a:solidFill>
              <a:srgbClr val="1F2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4" name="TextBox 7"/>
          <p:cNvSpPr txBox="1"/>
          <p:nvPr/>
        </p:nvSpPr>
        <p:spPr>
          <a:xfrm>
            <a:off x="1188720" y="2514600"/>
            <a:ext cx="1091435" cy="2382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000">
                <a:solidFill>
                  <a:srgbClr val="EDBEBE"/>
                </a:solidFill>
                <a:latin typeface="Aptos"/>
              </a:rPr>
              <a:t>LIVE APPLICATION</a:t>
            </a:r>
          </a:p>
        </p:txBody>
      </p:sp>
      <p:sp>
        <p:nvSpPr>
          <p:cNvPr id="1048725" name="TextBox 8"/>
          <p:cNvSpPr txBox="1"/>
          <p:nvPr/>
        </p:nvSpPr>
        <p:spPr>
          <a:xfrm>
            <a:off x="1188720" y="3246120"/>
            <a:ext cx="5669280" cy="457200"/>
          </a:xfrm>
          <a:prstGeom prst="rect"/>
          <a:noFill/>
        </p:spPr>
        <p:txBody>
          <a:bodyPr anchor="t" bIns="36576" lIns="36576" rIns="36576" tIns="36576" wrap="none">
            <a:noAutofit/>
          </a:bodyPr>
          <a:p>
            <a:pPr>
              <a:spcAft>
                <a:spcPts val="0"/>
              </a:spcAft>
            </a:pPr>
            <a:r>
              <a:rPr b="1" sz="1700">
                <a:solidFill>
                  <a:srgbClr val="FFFFFF"/>
                </a:solidFill>
                <a:latin typeface="Aptos"/>
              </a:rPr>
              <a:t>nihongo-journey-psi.vercel.app</a:t>
            </a:r>
          </a:p>
        </p:txBody>
      </p:sp>
      <p:sp>
        <p:nvSpPr>
          <p:cNvPr id="1048726" name="TextBox 9"/>
          <p:cNvSpPr txBox="1"/>
          <p:nvPr/>
        </p:nvSpPr>
        <p:spPr>
          <a:xfrm>
            <a:off x="1188720" y="4754880"/>
            <a:ext cx="1575523" cy="2509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100">
                <a:solidFill>
                  <a:srgbClr val="EDBEBE"/>
                </a:solidFill>
                <a:latin typeface="Aptos"/>
              </a:rPr>
              <a:t>Frontend deployment</a:t>
            </a:r>
          </a:p>
        </p:txBody>
      </p:sp>
      <p:sp>
        <p:nvSpPr>
          <p:cNvPr id="1048727" name="Rounded Rectangle 10"/>
          <p:cNvSpPr/>
          <p:nvPr/>
        </p:nvSpPr>
        <p:spPr>
          <a:xfrm>
            <a:off x="7726679" y="2148840"/>
            <a:ext cx="3611880" cy="329184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8" name="TextBox 11"/>
          <p:cNvSpPr txBox="1"/>
          <p:nvPr/>
        </p:nvSpPr>
        <p:spPr>
          <a:xfrm>
            <a:off x="8046720" y="2514600"/>
            <a:ext cx="1175870" cy="3525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700">
                <a:solidFill>
                  <a:srgbClr val="24272B"/>
                </a:solidFill>
                <a:latin typeface="Aptos"/>
              </a:rPr>
              <a:t>Demo flow</a:t>
            </a:r>
          </a:p>
        </p:txBody>
      </p:sp>
      <p:sp>
        <p:nvSpPr>
          <p:cNvPr id="1048729" name="TextBox 12"/>
          <p:cNvSpPr txBox="1"/>
          <p:nvPr/>
        </p:nvSpPr>
        <p:spPr>
          <a:xfrm>
            <a:off x="8046720" y="3063240"/>
            <a:ext cx="2834640" cy="1336040"/>
          </a:xfrm>
          <a:prstGeom prst="rect"/>
          <a:noFill/>
        </p:spPr>
        <p:txBody>
          <a:bodyPr lIns="45720" rIns="45720" wrap="square">
            <a:spAutoFit/>
          </a:bodyPr>
          <a:p>
            <a:pPr>
              <a:spcAft>
                <a:spcPts val="1000"/>
              </a:spcAft>
              <a:defRPr sz="1300">
                <a:solidFill>
                  <a:srgbClr val="696F76"/>
                </a:solidFill>
                <a:latin typeface="Aptos"/>
              </a:defRPr>
            </a:pPr>
            <a:r>
              <a:t>•  Open the homepage</a:t>
            </a:r>
          </a:p>
          <a:p>
            <a:pPr>
              <a:spcAft>
                <a:spcPts val="1000"/>
              </a:spcAft>
              <a:defRPr sz="1300">
                <a:solidFill>
                  <a:srgbClr val="696F76"/>
                </a:solidFill>
                <a:latin typeface="Aptos"/>
              </a:defRPr>
            </a:pPr>
            <a:r>
              <a:t>•  Choose a JLPT level</a:t>
            </a:r>
          </a:p>
          <a:p>
            <a:pPr>
              <a:spcAft>
                <a:spcPts val="1000"/>
              </a:spcAft>
              <a:defRPr sz="1300">
                <a:solidFill>
                  <a:srgbClr val="696F76"/>
                </a:solidFill>
                <a:latin typeface="Aptos"/>
              </a:defRPr>
            </a:pPr>
            <a:r>
              <a:t>•  Explore grammar or vocabulary</a:t>
            </a:r>
          </a:p>
          <a:p>
            <a:pPr>
              <a:spcAft>
                <a:spcPts val="1000"/>
              </a:spcAft>
              <a:defRPr sz="1300">
                <a:solidFill>
                  <a:srgbClr val="696F76"/>
                </a:solidFill>
                <a:latin typeface="Aptos"/>
              </a:defRPr>
            </a:pPr>
            <a:r>
              <a:t>•  Show how content is loaded</a:t>
            </a:r>
          </a:p>
        </p:txBody>
      </p:sp>
      <p:sp>
        <p:nvSpPr>
          <p:cNvPr id="1048730" name="TextBox 13"/>
          <p:cNvSpPr txBox="1"/>
          <p:nvPr/>
        </p:nvSpPr>
        <p:spPr>
          <a:xfrm>
            <a:off x="868680" y="5715000"/>
            <a:ext cx="5715375" cy="27635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200">
                <a:solidFill>
                  <a:srgbClr val="BE3137"/>
                </a:solidFill>
                <a:latin typeface="Aptos"/>
              </a:rPr>
              <a:t>Tip: test the deployed site before presenting and keep a backup screenshot.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32" name=""/>
        <p:cNvGrpSpPr/>
        <p:nvPr/>
      </p:nvGrpSpPr>
      <p:grpSpPr>
        <a:xfrm/>
      </p:grpSpPr>
      <p:sp>
        <p:nvSpPr>
          <p:cNvPr id="1048731" name="TextBox 1"/>
          <p:cNvSpPr txBox="1"/>
          <p:nvPr/>
        </p:nvSpPr>
        <p:spPr>
          <a:xfrm>
            <a:off x="640080" y="347472"/>
            <a:ext cx="4389120" cy="25603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000">
                <a:solidFill>
                  <a:srgbClr val="BE3137"/>
                </a:solidFill>
                <a:latin typeface="Aptos"/>
              </a:rPr>
              <a:t>08 / DEVELOPMENT</a:t>
            </a:r>
          </a:p>
        </p:txBody>
      </p:sp>
      <p:sp>
        <p:nvSpPr>
          <p:cNvPr id="1048732" name="TextBox 2"/>
          <p:cNvSpPr txBox="1"/>
          <p:nvPr/>
        </p:nvSpPr>
        <p:spPr>
          <a:xfrm>
            <a:off x="640080" y="749808"/>
            <a:ext cx="10881360" cy="594360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2800">
                <a:solidFill>
                  <a:srgbClr val="24272B"/>
                </a:solidFill>
                <a:latin typeface="Aptos"/>
              </a:rPr>
              <a:t>Challenges and learning</a:t>
            </a:r>
          </a:p>
        </p:txBody>
      </p:sp>
      <p:sp>
        <p:nvSpPr>
          <p:cNvPr id="1048733" name="TextBox 3"/>
          <p:cNvSpPr txBox="1"/>
          <p:nvPr/>
        </p:nvSpPr>
        <p:spPr>
          <a:xfrm>
            <a:off x="658368" y="1389888"/>
            <a:ext cx="10698480" cy="411480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300">
                <a:solidFill>
                  <a:srgbClr val="696F76"/>
                </a:solidFill>
                <a:latin typeface="Aptos"/>
              </a:rPr>
              <a:t>Building and deploying the project involved both frontend and backend problem-solving.</a:t>
            </a:r>
          </a:p>
        </p:txBody>
      </p:sp>
      <p:sp>
        <p:nvSpPr>
          <p:cNvPr id="1048734" name="TextBox 4"/>
          <p:cNvSpPr txBox="1"/>
          <p:nvPr/>
        </p:nvSpPr>
        <p:spPr>
          <a:xfrm>
            <a:off x="640080" y="6510528"/>
            <a:ext cx="6400800" cy="16459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800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1048735" name="TextBox 5"/>
          <p:cNvSpPr txBox="1"/>
          <p:nvPr/>
        </p:nvSpPr>
        <p:spPr>
          <a:xfrm>
            <a:off x="11064240" y="6473952"/>
            <a:ext cx="457200" cy="228600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r">
              <a:spcAft>
                <a:spcPts val="0"/>
              </a:spcAft>
            </a:pPr>
            <a:r>
              <a:rPr b="1" sz="900">
                <a:solidFill>
                  <a:srgbClr val="696F76"/>
                </a:solidFill>
                <a:latin typeface="Aptos"/>
              </a:rPr>
              <a:t>09</a:t>
            </a:r>
          </a:p>
        </p:txBody>
      </p:sp>
      <p:sp>
        <p:nvSpPr>
          <p:cNvPr id="1048736" name="Rounded Rectangle 6"/>
          <p:cNvSpPr/>
          <p:nvPr/>
        </p:nvSpPr>
        <p:spPr>
          <a:xfrm>
            <a:off x="822960" y="2240280"/>
            <a:ext cx="5074920" cy="123444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7" name="TextBox 7"/>
          <p:cNvSpPr txBox="1"/>
          <p:nvPr/>
        </p:nvSpPr>
        <p:spPr>
          <a:xfrm>
            <a:off x="1024128" y="2423160"/>
            <a:ext cx="502920" cy="25603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100">
                <a:solidFill>
                  <a:srgbClr val="BE3137"/>
                </a:solidFill>
                <a:latin typeface="Aptos"/>
              </a:rPr>
              <a:t>01</a:t>
            </a:r>
          </a:p>
        </p:txBody>
      </p:sp>
      <p:sp>
        <p:nvSpPr>
          <p:cNvPr id="1048738" name="TextBox 8"/>
          <p:cNvSpPr txBox="1"/>
          <p:nvPr/>
        </p:nvSpPr>
        <p:spPr>
          <a:xfrm>
            <a:off x="1645920" y="2386584"/>
            <a:ext cx="3840480" cy="274320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600">
                <a:solidFill>
                  <a:srgbClr val="24272B"/>
                </a:solidFill>
                <a:latin typeface="Aptos"/>
              </a:rPr>
              <a:t>API integration</a:t>
            </a:r>
          </a:p>
        </p:txBody>
      </p:sp>
      <p:sp>
        <p:nvSpPr>
          <p:cNvPr id="1048739" name="TextBox 9"/>
          <p:cNvSpPr txBox="1"/>
          <p:nvPr/>
        </p:nvSpPr>
        <p:spPr>
          <a:xfrm>
            <a:off x="1645920" y="2807208"/>
            <a:ext cx="3840480" cy="43891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200">
                <a:solidFill>
                  <a:srgbClr val="696F76"/>
                </a:solidFill>
                <a:latin typeface="Aptos"/>
              </a:rPr>
              <a:t>Connecting React components to Express endpoints.</a:t>
            </a:r>
          </a:p>
        </p:txBody>
      </p:sp>
      <p:sp>
        <p:nvSpPr>
          <p:cNvPr id="1048740" name="Rounded Rectangle 10"/>
          <p:cNvSpPr/>
          <p:nvPr/>
        </p:nvSpPr>
        <p:spPr>
          <a:xfrm>
            <a:off x="6355080" y="2240280"/>
            <a:ext cx="5074920" cy="123444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1" name="TextBox 11"/>
          <p:cNvSpPr txBox="1"/>
          <p:nvPr/>
        </p:nvSpPr>
        <p:spPr>
          <a:xfrm>
            <a:off x="6556248" y="2423160"/>
            <a:ext cx="502920" cy="25603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100">
                <a:solidFill>
                  <a:srgbClr val="BE3137"/>
                </a:solidFill>
                <a:latin typeface="Aptos"/>
              </a:rPr>
              <a:t>02</a:t>
            </a:r>
          </a:p>
        </p:txBody>
      </p:sp>
      <p:sp>
        <p:nvSpPr>
          <p:cNvPr id="1048742" name="TextBox 12"/>
          <p:cNvSpPr txBox="1"/>
          <p:nvPr/>
        </p:nvSpPr>
        <p:spPr>
          <a:xfrm>
            <a:off x="7178040" y="2386584"/>
            <a:ext cx="3840480" cy="274320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600">
                <a:solidFill>
                  <a:srgbClr val="24272B"/>
                </a:solidFill>
                <a:latin typeface="Aptos"/>
              </a:rPr>
              <a:t>Database connection</a:t>
            </a:r>
          </a:p>
        </p:txBody>
      </p:sp>
      <p:sp>
        <p:nvSpPr>
          <p:cNvPr id="1048743" name="TextBox 13"/>
          <p:cNvSpPr txBox="1"/>
          <p:nvPr/>
        </p:nvSpPr>
        <p:spPr>
          <a:xfrm>
            <a:off x="7178040" y="2807208"/>
            <a:ext cx="3840480" cy="43891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200">
                <a:solidFill>
                  <a:srgbClr val="696F76"/>
                </a:solidFill>
                <a:latin typeface="Aptos"/>
              </a:rPr>
              <a:t>Configuring MongoDB Atlas and environment variables.</a:t>
            </a:r>
          </a:p>
        </p:txBody>
      </p:sp>
      <p:sp>
        <p:nvSpPr>
          <p:cNvPr id="1048744" name="Rounded Rectangle 14"/>
          <p:cNvSpPr/>
          <p:nvPr/>
        </p:nvSpPr>
        <p:spPr>
          <a:xfrm>
            <a:off x="822960" y="3840480"/>
            <a:ext cx="5074920" cy="123444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5" name="TextBox 15"/>
          <p:cNvSpPr txBox="1"/>
          <p:nvPr/>
        </p:nvSpPr>
        <p:spPr>
          <a:xfrm>
            <a:off x="1024128" y="4023360"/>
            <a:ext cx="502920" cy="25603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100">
                <a:solidFill>
                  <a:srgbClr val="BE3137"/>
                </a:solidFill>
                <a:latin typeface="Aptos"/>
              </a:rPr>
              <a:t>03</a:t>
            </a:r>
          </a:p>
        </p:txBody>
      </p:sp>
      <p:sp>
        <p:nvSpPr>
          <p:cNvPr id="1048746" name="TextBox 16"/>
          <p:cNvSpPr txBox="1"/>
          <p:nvPr/>
        </p:nvSpPr>
        <p:spPr>
          <a:xfrm>
            <a:off x="1645920" y="3986784"/>
            <a:ext cx="3840480" cy="274320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600">
                <a:solidFill>
                  <a:srgbClr val="24272B"/>
                </a:solidFill>
                <a:latin typeface="Aptos"/>
              </a:rPr>
              <a:t>Deployment</a:t>
            </a:r>
          </a:p>
        </p:txBody>
      </p:sp>
      <p:sp>
        <p:nvSpPr>
          <p:cNvPr id="1048747" name="TextBox 17"/>
          <p:cNvSpPr txBox="1"/>
          <p:nvPr/>
        </p:nvSpPr>
        <p:spPr>
          <a:xfrm>
            <a:off x="1645920" y="4407408"/>
            <a:ext cx="3840480" cy="43891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200">
                <a:solidFill>
                  <a:srgbClr val="696F76"/>
                </a:solidFill>
                <a:latin typeface="Aptos"/>
              </a:rPr>
              <a:t>Deploying the frontend and backend separately.</a:t>
            </a:r>
          </a:p>
        </p:txBody>
      </p:sp>
      <p:sp>
        <p:nvSpPr>
          <p:cNvPr id="1048748" name="Rounded Rectangle 18"/>
          <p:cNvSpPr/>
          <p:nvPr/>
        </p:nvSpPr>
        <p:spPr>
          <a:xfrm>
            <a:off x="6355080" y="3840480"/>
            <a:ext cx="5074920" cy="123444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9" name="TextBox 19"/>
          <p:cNvSpPr txBox="1"/>
          <p:nvPr/>
        </p:nvSpPr>
        <p:spPr>
          <a:xfrm>
            <a:off x="6556248" y="4023360"/>
            <a:ext cx="502920" cy="25603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100">
                <a:solidFill>
                  <a:srgbClr val="BE3137"/>
                </a:solidFill>
                <a:latin typeface="Aptos"/>
              </a:rPr>
              <a:t>04</a:t>
            </a:r>
          </a:p>
        </p:txBody>
      </p:sp>
      <p:sp>
        <p:nvSpPr>
          <p:cNvPr id="1048750" name="TextBox 20"/>
          <p:cNvSpPr txBox="1"/>
          <p:nvPr/>
        </p:nvSpPr>
        <p:spPr>
          <a:xfrm>
            <a:off x="7178040" y="3986784"/>
            <a:ext cx="3840480" cy="274320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600">
                <a:solidFill>
                  <a:srgbClr val="24272B"/>
                </a:solidFill>
                <a:latin typeface="Aptos"/>
              </a:rPr>
              <a:t>Debugging</a:t>
            </a:r>
          </a:p>
        </p:txBody>
      </p:sp>
      <p:sp>
        <p:nvSpPr>
          <p:cNvPr id="1048751" name="TextBox 21"/>
          <p:cNvSpPr txBox="1"/>
          <p:nvPr/>
        </p:nvSpPr>
        <p:spPr>
          <a:xfrm>
            <a:off x="7178040" y="4407408"/>
            <a:ext cx="3840480" cy="43891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200">
                <a:solidFill>
                  <a:srgbClr val="696F76"/>
                </a:solidFill>
                <a:latin typeface="Aptos"/>
              </a:rPr>
              <a:t>Resolving incorrect paths, API URLs and build errors.</a:t>
            </a:r>
          </a:p>
        </p:txBody>
      </p:sp>
      <p:sp>
        <p:nvSpPr>
          <p:cNvPr id="1048752" name="TextBox 22"/>
          <p:cNvSpPr txBox="1"/>
          <p:nvPr/>
        </p:nvSpPr>
        <p:spPr>
          <a:xfrm>
            <a:off x="914400" y="5715000"/>
            <a:ext cx="10332720" cy="320040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400">
                <a:solidFill>
                  <a:srgbClr val="4E7968"/>
                </a:solidFill>
                <a:latin typeface="Aptos"/>
              </a:rPr>
              <a:t>Key takeaway: debugging and deployment are important parts of real-world development.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33" name=""/>
        <p:cNvGrpSpPr/>
        <p:nvPr/>
      </p:nvGrpSpPr>
      <p:grpSpPr>
        <a:xfrm/>
      </p:grpSpPr>
      <p:sp>
        <p:nvSpPr>
          <p:cNvPr id="1048753" name="TextBox 1"/>
          <p:cNvSpPr txBox="1"/>
          <p:nvPr/>
        </p:nvSpPr>
        <p:spPr>
          <a:xfrm>
            <a:off x="640080" y="347472"/>
            <a:ext cx="4389120" cy="25603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000">
                <a:solidFill>
                  <a:srgbClr val="BE3137"/>
                </a:solidFill>
                <a:latin typeface="Aptos"/>
              </a:rPr>
              <a:t>09 / NEXT STEPS</a:t>
            </a:r>
          </a:p>
        </p:txBody>
      </p:sp>
      <p:sp>
        <p:nvSpPr>
          <p:cNvPr id="1048754" name="TextBox 2"/>
          <p:cNvSpPr txBox="1"/>
          <p:nvPr/>
        </p:nvSpPr>
        <p:spPr>
          <a:xfrm>
            <a:off x="640080" y="749808"/>
            <a:ext cx="10881360" cy="594360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2800">
                <a:solidFill>
                  <a:srgbClr val="24272B"/>
                </a:solidFill>
                <a:latin typeface="Aptos"/>
              </a:rPr>
              <a:t>Future enhancements</a:t>
            </a:r>
          </a:p>
        </p:txBody>
      </p:sp>
      <p:sp>
        <p:nvSpPr>
          <p:cNvPr id="1048755" name="TextBox 3"/>
          <p:cNvSpPr txBox="1"/>
          <p:nvPr/>
        </p:nvSpPr>
        <p:spPr>
          <a:xfrm>
            <a:off x="658368" y="1389888"/>
            <a:ext cx="10698480" cy="411480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0" sz="1300">
                <a:solidFill>
                  <a:srgbClr val="696F76"/>
                </a:solidFill>
                <a:latin typeface="Aptos"/>
              </a:rPr>
              <a:t>The next phase is to make learning more interactive and personalised.</a:t>
            </a:r>
          </a:p>
        </p:txBody>
      </p:sp>
      <p:sp>
        <p:nvSpPr>
          <p:cNvPr id="1048756" name="TextBox 4"/>
          <p:cNvSpPr txBox="1"/>
          <p:nvPr/>
        </p:nvSpPr>
        <p:spPr>
          <a:xfrm>
            <a:off x="640080" y="6510528"/>
            <a:ext cx="6400800" cy="164592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800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1048757" name="TextBox 5"/>
          <p:cNvSpPr txBox="1"/>
          <p:nvPr/>
        </p:nvSpPr>
        <p:spPr>
          <a:xfrm>
            <a:off x="11064240" y="6473952"/>
            <a:ext cx="457200" cy="228600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r">
              <a:spcAft>
                <a:spcPts val="0"/>
              </a:spcAft>
            </a:pPr>
            <a:r>
              <a:rPr b="1" sz="900">
                <a:solidFill>
                  <a:srgbClr val="696F76"/>
                </a:solidFill>
                <a:latin typeface="Aptos"/>
              </a:rPr>
              <a:t>10</a:t>
            </a:r>
          </a:p>
        </p:txBody>
      </p:sp>
      <p:sp>
        <p:nvSpPr>
          <p:cNvPr id="1048758" name="Rounded Rectangle 6"/>
          <p:cNvSpPr/>
          <p:nvPr/>
        </p:nvSpPr>
        <p:spPr>
          <a:xfrm>
            <a:off x="777240" y="2057400"/>
            <a:ext cx="6629400" cy="3520440"/>
          </a:xfrm>
          <a:prstGeom prst="roundRect"/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9" name="TextBox 7"/>
          <p:cNvSpPr txBox="1"/>
          <p:nvPr/>
        </p:nvSpPr>
        <p:spPr>
          <a:xfrm>
            <a:off x="1097280" y="2395728"/>
            <a:ext cx="3657600" cy="320040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>
              <a:spcAft>
                <a:spcPts val="0"/>
              </a:spcAft>
            </a:pPr>
            <a:r>
              <a:rPr b="1" sz="1700">
                <a:solidFill>
                  <a:srgbClr val="24272B"/>
                </a:solidFill>
                <a:latin typeface="Aptos"/>
              </a:rPr>
              <a:t>Planned improvements</a:t>
            </a:r>
          </a:p>
        </p:txBody>
      </p:sp>
      <p:sp>
        <p:nvSpPr>
          <p:cNvPr id="1048760" name="TextBox 8"/>
          <p:cNvSpPr txBox="1"/>
          <p:nvPr/>
        </p:nvSpPr>
        <p:spPr>
          <a:xfrm>
            <a:off x="1097280" y="2971800"/>
            <a:ext cx="5669280" cy="2286000"/>
          </a:xfrm>
          <a:prstGeom prst="rect"/>
          <a:noFill/>
        </p:spPr>
        <p:txBody>
          <a:bodyPr lIns="45720" rIns="45720" wrap="square">
            <a:spAutoFit/>
          </a:bodyPr>
          <a:p>
            <a:pPr>
              <a:spcAft>
                <a:spcPts val="900"/>
              </a:spcAft>
              <a:defRPr sz="1400">
                <a:solidFill>
                  <a:srgbClr val="696F76"/>
                </a:solidFill>
                <a:latin typeface="Aptos"/>
              </a:defRPr>
            </a:pPr>
            <a:r>
              <a:t>•  User accounts and individual learning progress</a:t>
            </a:r>
          </a:p>
          <a:p>
            <a:pPr>
              <a:spcAft>
                <a:spcPts val="900"/>
              </a:spcAft>
              <a:defRPr sz="1400">
                <a:solidFill>
                  <a:srgbClr val="696F76"/>
                </a:solidFill>
                <a:latin typeface="Aptos"/>
              </a:defRPr>
            </a:pPr>
            <a:r>
              <a:t>•  Quizzes and practice exercises</a:t>
            </a:r>
          </a:p>
          <a:p>
            <a:pPr>
              <a:spcAft>
                <a:spcPts val="900"/>
              </a:spcAft>
              <a:defRPr sz="1400">
                <a:solidFill>
                  <a:srgbClr val="696F76"/>
                </a:solidFill>
                <a:latin typeface="Aptos"/>
              </a:defRPr>
            </a:pPr>
            <a:r>
              <a:t>•  Revision tools and spaced repetition</a:t>
            </a:r>
          </a:p>
          <a:p>
            <a:pPr>
              <a:spcAft>
                <a:spcPts val="900"/>
              </a:spcAft>
              <a:defRPr sz="1400">
                <a:solidFill>
                  <a:srgbClr val="696F76"/>
                </a:solidFill>
                <a:latin typeface="Aptos"/>
              </a:defRPr>
            </a:pPr>
            <a:r>
              <a:t>•  More JLPT levels and richer learning content</a:t>
            </a:r>
          </a:p>
          <a:p>
            <a:pPr>
              <a:spcAft>
                <a:spcPts val="900"/>
              </a:spcAft>
              <a:defRPr sz="1400">
                <a:solidFill>
                  <a:srgbClr val="696F76"/>
                </a:solidFill>
                <a:latin typeface="Aptos"/>
              </a:defRPr>
            </a:pPr>
            <a:r>
              <a:t>•  Video-based learning and real-world Japanese</a:t>
            </a:r>
          </a:p>
        </p:txBody>
      </p:sp>
      <p:sp>
        <p:nvSpPr>
          <p:cNvPr id="1048761" name="Rounded Rectangle 9"/>
          <p:cNvSpPr/>
          <p:nvPr/>
        </p:nvSpPr>
        <p:spPr>
          <a:xfrm>
            <a:off x="7818120" y="2057400"/>
            <a:ext cx="3429000" cy="3520440"/>
          </a:xfrm>
          <a:prstGeom prst="roundRect"/>
          <a:solidFill>
            <a:srgbClr val="1F2328"/>
          </a:solidFill>
          <a:ln w="10160">
            <a:solidFill>
              <a:srgbClr val="1F2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2" name="TextBox 10"/>
          <p:cNvSpPr txBox="1"/>
          <p:nvPr/>
        </p:nvSpPr>
        <p:spPr>
          <a:xfrm>
            <a:off x="8092440" y="2697480"/>
            <a:ext cx="2880360" cy="594360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2800">
                <a:solidFill>
                  <a:srgbClr val="FFFFFF"/>
                </a:solidFill>
                <a:latin typeface="Aptos"/>
              </a:rPr>
              <a:t>ありがとう</a:t>
            </a:r>
          </a:p>
        </p:txBody>
      </p:sp>
      <p:sp>
        <p:nvSpPr>
          <p:cNvPr id="1048763" name="TextBox 11"/>
          <p:cNvSpPr txBox="1"/>
          <p:nvPr/>
        </p:nvSpPr>
        <p:spPr>
          <a:xfrm>
            <a:off x="8092440" y="3566160"/>
            <a:ext cx="2880360" cy="502920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2300">
                <a:solidFill>
                  <a:srgbClr val="EDBEBE"/>
                </a:solidFill>
                <a:latin typeface="Aptos"/>
              </a:rPr>
              <a:t>Thank you!</a:t>
            </a:r>
          </a:p>
        </p:txBody>
      </p:sp>
      <p:sp>
        <p:nvSpPr>
          <p:cNvPr id="1048764" name="TextBox 12"/>
          <p:cNvSpPr txBox="1"/>
          <p:nvPr/>
        </p:nvSpPr>
        <p:spPr>
          <a:xfrm>
            <a:off x="8092440" y="4434840"/>
            <a:ext cx="2880360" cy="320040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400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  <p:sp>
        <p:nvSpPr>
          <p:cNvPr id="1048765" name="TextBox 13"/>
          <p:cNvSpPr txBox="1"/>
          <p:nvPr/>
        </p:nvSpPr>
        <p:spPr>
          <a:xfrm>
            <a:off x="868680" y="5897880"/>
            <a:ext cx="10241280" cy="320040"/>
          </a:xfrm>
          <a:prstGeom prst="rect"/>
          <a:noFill/>
        </p:spPr>
        <p:txBody>
          <a:bodyPr anchor="t" bIns="36576" lIns="36576" rIns="36576" tIns="36576" wrap="none">
            <a:spAutoFit/>
          </a:bodyPr>
          <a:p>
            <a:pPr algn="ctr">
              <a:spcAft>
                <a:spcPts val="0"/>
              </a:spcAft>
            </a:pPr>
            <a:r>
              <a:rPr b="1" sz="1300">
                <a:solidFill>
                  <a:srgbClr val="BE3137"/>
                </a:solidFill>
                <a:latin typeface="Aptos"/>
              </a:rPr>
              <a:t>Nihongo Journey — making Japanese learning a clearer journey.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motorola edge 50 fusion</dc:creator>
  <cp:lastModifiedBy>Steve Canny</cp:lastModifiedBy>
  <dcterms:created xsi:type="dcterms:W3CDTF">2013-01-26T22:14:16Z</dcterms:created>
  <dcterms:modified xsi:type="dcterms:W3CDTF">2026-10-30T05:09:11Z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3886cad6717a4aa7b53009ceb9a049e6_23</vt:lpwstr>
  </property>
</Properties>
</file>