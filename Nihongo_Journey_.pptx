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594360"/>
            <a:ext cx="2286000" cy="2286000"/>
          </a:xfrm>
          <a:prstGeom prst="ellipse">
            <a:avLst/>
          </a:prstGeom>
          <a:solidFill>
            <a:srgbClr val="F8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48840"/>
            <a:ext cx="1234440" cy="1234440"/>
          </a:xfrm>
          <a:prstGeom prst="ellipse">
            <a:avLst/>
          </a:prstGeom>
          <a:solidFill>
            <a:srgbClr val="ED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92440" y="3108960"/>
            <a:ext cx="658368" cy="658368"/>
          </a:xfrm>
          <a:prstGeom prst="ellipse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822960"/>
            <a:ext cx="2331720" cy="310896"/>
          </a:xfrm>
          <a:prstGeom prst="roundRect">
            <a:avLst/>
          </a:prstGeom>
          <a:solidFill>
            <a:srgbClr val="F8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54964"/>
            <a:ext cx="224027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E3137"/>
                </a:solidFill>
                <a:latin typeface="Aptos"/>
              </a:rPr>
              <a:t>FULL-STACK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6583680" cy="1828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4600" b="1">
                <a:solidFill>
                  <a:srgbClr val="24272B"/>
                </a:solidFill>
                <a:latin typeface="Aptos"/>
              </a:rPr>
              <a:t>Nihongo
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93008"/>
            <a:ext cx="6217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0">
                <a:solidFill>
                  <a:srgbClr val="696F76"/>
                </a:solidFill>
                <a:latin typeface="Aptos"/>
              </a:rPr>
              <a:t>Master Japanese, one level at a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96512"/>
            <a:ext cx="6309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24272B"/>
                </a:solidFill>
                <a:latin typeface="Aptos"/>
              </a:rPr>
              <a:t>A learning platform for Japanese grammar, vocabulary and kanji.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5074920"/>
            <a:ext cx="658368" cy="658368"/>
          </a:xfrm>
          <a:prstGeom prst="ellipse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093207"/>
            <a:ext cx="658368" cy="6217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N5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0" y="5074920"/>
            <a:ext cx="658368" cy="658368"/>
          </a:xfrm>
          <a:prstGeom prst="ellipse">
            <a:avLst/>
          </a:prstGeom>
          <a:solidFill>
            <a:srgbClr val="C49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093207"/>
            <a:ext cx="658368" cy="6217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N4</a:t>
            </a:r>
          </a:p>
        </p:txBody>
      </p:sp>
      <p:sp>
        <p:nvSpPr>
          <p:cNvPr id="14" name="Oval 13"/>
          <p:cNvSpPr/>
          <p:nvPr/>
        </p:nvSpPr>
        <p:spPr>
          <a:xfrm>
            <a:off x="2816352" y="5074920"/>
            <a:ext cx="658368" cy="658368"/>
          </a:xfrm>
          <a:prstGeom prst="ellipse">
            <a:avLst/>
          </a:prstGeom>
          <a:solidFill>
            <a:srgbClr val="4E7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5093207"/>
            <a:ext cx="658368" cy="62179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N3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217920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96F76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What is Nihongo Journey?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A single place to study core Japanese language topics in a structured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96F76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658368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BE3137"/>
                </a:solidFill>
                <a:latin typeface="Aptos"/>
              </a:rP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580644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24272B"/>
                </a:solidFill>
                <a:latin typeface="Aptos"/>
              </a:rPr>
              <a:t>Learning Japanese can feel fragmented when learners use separate resources for different topics.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580644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96F76"/>
                </a:solidFill>
                <a:latin typeface="Aptos"/>
              </a:rPr>
              <a:t>Nihongo Journey brings grammar, vocabulary and kanji together under JLPT-based levels, starting with N5 and expanding to N4 and N3.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57400"/>
            <a:ext cx="3840480" cy="3520440"/>
          </a:xfrm>
          <a:prstGeom prst="roundRect">
            <a:avLst/>
          </a:prstGeom>
          <a:solidFill>
            <a:srgbClr val="1F2328"/>
          </a:solidFill>
          <a:ln w="10160">
            <a:solidFill>
              <a:srgbClr val="1F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56032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DBEBE"/>
                </a:solidFill>
                <a:latin typeface="Aptos"/>
              </a:rPr>
              <a:t>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42900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PRACTISE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297680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DBEBE"/>
                </a:solidFill>
                <a:latin typeface="Aptos"/>
              </a:rPr>
              <a:t>PROGRESS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55480" y="2971800"/>
            <a:ext cx="0" cy="320040"/>
          </a:xfrm>
          <a:prstGeom prst="line">
            <a:avLst/>
          </a:prstGeom>
          <a:ln w="25400">
            <a:solidFill>
              <a:srgbClr val="C49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55480" y="3840480"/>
            <a:ext cx="0" cy="320040"/>
          </a:xfrm>
          <a:prstGeom prst="line">
            <a:avLst/>
          </a:prstGeom>
          <a:ln w="25400">
            <a:solidFill>
              <a:srgbClr val="C49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02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Learners often need to switch between multiple resources to cover the basics.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429000" cy="2697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42032"/>
            <a:ext cx="2788920" cy="320040"/>
          </a:xfrm>
          <a:prstGeom prst="rect">
            <a:avLst/>
          </a:prstGeom>
          <a:noFill/>
        </p:spPr>
        <p:txBody>
          <a:bodyPr wrap="none" lIns="18288" rIns="18288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E313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788920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4272B"/>
                </a:solidFill>
                <a:latin typeface="Aptos"/>
              </a:rPr>
              <a:t>Scattered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2788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696F76"/>
                </a:solidFill>
                <a:latin typeface="Aptos"/>
              </a:rPr>
              <a:t>Grammar, vocabulary and kanji
are studied in separate places.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331720"/>
            <a:ext cx="3429000" cy="2697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542032"/>
            <a:ext cx="2788920" cy="320040"/>
          </a:xfrm>
          <a:prstGeom prst="rect">
            <a:avLst/>
          </a:prstGeom>
          <a:noFill/>
        </p:spPr>
        <p:txBody>
          <a:bodyPr wrap="none" lIns="18288" rIns="18288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E313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63240"/>
            <a:ext cx="2788920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4272B"/>
                </a:solidFill>
                <a:latin typeface="Aptos"/>
              </a:rPr>
              <a:t>Unclear learning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788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696F76"/>
                </a:solidFill>
                <a:latin typeface="Aptos"/>
              </a:rPr>
              <a:t>Beginners may not know what
to study next or how topics connect.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331720"/>
            <a:ext cx="3429000" cy="2697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542032"/>
            <a:ext cx="2788920" cy="320040"/>
          </a:xfrm>
          <a:prstGeom prst="rect">
            <a:avLst/>
          </a:prstGeom>
          <a:noFill/>
        </p:spPr>
        <p:txBody>
          <a:bodyPr wrap="none" lIns="18288" rIns="18288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E313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788920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4272B"/>
                </a:solidFill>
                <a:latin typeface="Aptos"/>
              </a:rPr>
              <a:t>Limited progress
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931920"/>
            <a:ext cx="278892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696F76"/>
                </a:solidFill>
                <a:latin typeface="Aptos"/>
              </a:rPr>
              <a:t>It can be difficult to see what is
completed and what needs revision.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4E7968"/>
                </a:solidFill>
                <a:latin typeface="Aptos"/>
              </a:rPr>
              <a:t>Project goal: make foundational Japanese study more organised and accessible.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03 /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One connected learning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Organise content by proficiency level and learning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96F76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324612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606040"/>
            <a:ext cx="713232" cy="713232"/>
          </a:xfrm>
          <a:prstGeom prst="ellipse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24328"/>
            <a:ext cx="713232" cy="6766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N5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688336"/>
            <a:ext cx="1828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4272B"/>
                </a:solidFill>
                <a:latin typeface="Aptos"/>
              </a:rPr>
              <a:t>Beginner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886200"/>
            <a:ext cx="27432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Grammar  •  Vocabulary  •  Kanji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42232" y="3566160"/>
            <a:ext cx="384048" cy="0"/>
          </a:xfrm>
          <a:prstGeom prst="line">
            <a:avLst/>
          </a:prstGeom>
          <a:ln w="25400">
            <a:solidFill>
              <a:srgbClr val="C49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17720" y="2331720"/>
            <a:ext cx="324612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2606040"/>
            <a:ext cx="713232" cy="713232"/>
          </a:xfrm>
          <a:prstGeom prst="ellipse">
            <a:avLst/>
          </a:prstGeom>
          <a:solidFill>
            <a:srgbClr val="C49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624328"/>
            <a:ext cx="713232" cy="6766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N4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88336"/>
            <a:ext cx="1828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4272B"/>
                </a:solidFill>
                <a:latin typeface="Aptos"/>
              </a:rPr>
              <a:t>Elementary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886200"/>
            <a:ext cx="27432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Grammar  •  Vocabulary  •  Kanji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91271" y="3566160"/>
            <a:ext cx="384049" cy="0"/>
          </a:xfrm>
          <a:prstGeom prst="line">
            <a:avLst/>
          </a:prstGeom>
          <a:ln w="25400">
            <a:solidFill>
              <a:srgbClr val="C497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59" y="2331720"/>
            <a:ext cx="324612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59" y="2606040"/>
            <a:ext cx="713232" cy="713232"/>
          </a:xfrm>
          <a:prstGeom prst="ellipse">
            <a:avLst/>
          </a:prstGeom>
          <a:solidFill>
            <a:srgbClr val="4E7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59" y="2624328"/>
            <a:ext cx="713232" cy="6766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N3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2688336"/>
            <a:ext cx="1828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4272B"/>
                </a:solidFill>
                <a:latin typeface="Aptos"/>
              </a:rPr>
              <a:t>Lower-intermediate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1" y="3886200"/>
            <a:ext cx="274320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Grammar  •  Vocabulary  •  Kanji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24272B"/>
                </a:solidFill>
                <a:latin typeface="Aptos"/>
              </a:rPr>
              <a:t>A consistent structure helps learners move from one level to the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04 /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Core learning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The current platform focuses on the building blocks of Japanese.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96F76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338328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542032"/>
            <a:ext cx="804672" cy="804672"/>
          </a:xfrm>
          <a:prstGeom prst="ellipse">
            <a:avLst/>
          </a:prstGeom>
          <a:solidFill>
            <a:srgbClr val="BE3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60320"/>
            <a:ext cx="804672" cy="7680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547872"/>
            <a:ext cx="2743200" cy="438912"/>
          </a:xfrm>
          <a:prstGeom prst="rect">
            <a:avLst/>
          </a:prstGeom>
          <a:noFill/>
        </p:spPr>
        <p:txBody>
          <a:bodyPr wrap="none" lIns="18288" rIns="18288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4272B"/>
                </a:solidFill>
                <a:latin typeface="Aptos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096512"/>
            <a:ext cx="2743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Learn words with readings
and meanings.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240280"/>
            <a:ext cx="338328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73752" y="2542032"/>
            <a:ext cx="804672" cy="804672"/>
          </a:xfrm>
          <a:prstGeom prst="ellipse">
            <a:avLst/>
          </a:prstGeom>
          <a:solidFill>
            <a:srgbClr val="4E7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2560320"/>
            <a:ext cx="804672" cy="7680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3547872"/>
            <a:ext cx="2743200" cy="438912"/>
          </a:xfrm>
          <a:prstGeom prst="rect">
            <a:avLst/>
          </a:prstGeom>
          <a:noFill/>
        </p:spPr>
        <p:txBody>
          <a:bodyPr wrap="none" lIns="18288" rIns="18288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4272B"/>
                </a:solidFill>
                <a:latin typeface="Aptos"/>
              </a:rPr>
              <a:t>Grammar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4096512"/>
            <a:ext cx="2743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Study patterns and
example sentences.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0280"/>
            <a:ext cx="338328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68512" y="2542032"/>
            <a:ext cx="804672" cy="804672"/>
          </a:xfrm>
          <a:prstGeom prst="ellipse">
            <a:avLst/>
          </a:prstGeom>
          <a:solidFill>
            <a:srgbClr val="C49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1" y="2560320"/>
            <a:ext cx="804672" cy="7680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3547872"/>
            <a:ext cx="2743200" cy="438912"/>
          </a:xfrm>
          <a:prstGeom prst="rect">
            <a:avLst/>
          </a:prstGeom>
          <a:noFill/>
        </p:spPr>
        <p:txBody>
          <a:bodyPr wrap="none" lIns="18288" rIns="18288" tIns="9144" bIns="9144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4272B"/>
                </a:solidFill>
                <a:latin typeface="Aptos"/>
              </a:rPr>
              <a:t>Kanji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1" y="4096512"/>
            <a:ext cx="274320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Explore characters,
readings and meanings.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BE3137"/>
                </a:solidFill>
                <a:latin typeface="Aptos"/>
              </a:rPr>
              <a:t>Content is grouped by JLPT level: N5, N4 and N3.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05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A JavaScript-based full-stack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96F76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05613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2231136"/>
            <a:ext cx="1325880" cy="310896"/>
          </a:xfrm>
          <a:prstGeom prst="roundRect">
            <a:avLst/>
          </a:prstGeom>
          <a:solidFill>
            <a:srgbClr val="F8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63140"/>
            <a:ext cx="123443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E3137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85416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4272B"/>
                </a:solidFill>
                <a:latin typeface="Aptos"/>
              </a:rPr>
              <a:t>React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21992"/>
            <a:ext cx="5303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User interface and client-side interactions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105613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3099816"/>
            <a:ext cx="1325880" cy="310896"/>
          </a:xfrm>
          <a:prstGeom prst="roundRect">
            <a:avLst/>
          </a:prstGeom>
          <a:solidFill>
            <a:srgbClr val="EE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31820"/>
            <a:ext cx="123443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C4974D"/>
                </a:solidFill>
                <a:latin typeface="Aptos"/>
              </a:rPr>
              <a:t>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054096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4272B"/>
                </a:solidFill>
                <a:latin typeface="Aptos"/>
              </a:rPr>
              <a:t>Tailwind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090672"/>
            <a:ext cx="5303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Responsive layout and visual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94760"/>
            <a:ext cx="105613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3968496"/>
            <a:ext cx="1325880" cy="310896"/>
          </a:xfrm>
          <a:prstGeom prst="round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000500"/>
            <a:ext cx="123443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4E7968"/>
                </a:solidFill>
                <a:latin typeface="Aptos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922776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4272B"/>
                </a:solidFill>
                <a:latin typeface="Aptos"/>
              </a:rPr>
              <a:t>Node.js +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959352"/>
            <a:ext cx="5303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REST API and server-side routes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63440"/>
            <a:ext cx="105613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1560" y="4837176"/>
            <a:ext cx="1325880" cy="310896"/>
          </a:xfrm>
          <a:prstGeom prst="roundRect">
            <a:avLst/>
          </a:prstGeom>
          <a:solidFill>
            <a:srgbClr val="EEEB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69180"/>
            <a:ext cx="123443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47596"/>
                </a:solidFill>
                <a:latin typeface="Aptos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791455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4272B"/>
                </a:solidFill>
                <a:latin typeface="Aptos"/>
              </a:rPr>
              <a:t>MongoDB Atlas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828031"/>
            <a:ext cx="5303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Store structured Japanese learning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06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How the application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The frontend requests learning content from the backend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96F76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23317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057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2057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Learner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743200"/>
            <a:ext cx="25146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926080"/>
            <a:ext cx="2240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4974D"/>
                </a:solidFill>
                <a:latin typeface="Apto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10128"/>
            <a:ext cx="2240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React + Vite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743200"/>
            <a:ext cx="2240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1965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4E7968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310128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Express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2743200"/>
            <a:ext cx="19659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926080"/>
            <a:ext cx="1691639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47596"/>
                </a:solidFill>
                <a:latin typeface="Aptos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310128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MongoDB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3364992"/>
            <a:ext cx="548640" cy="0"/>
          </a:xfrm>
          <a:prstGeom prst="line">
            <a:avLst/>
          </a:prstGeom>
          <a:ln w="25400">
            <a:solidFill>
              <a:srgbClr val="696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3364992"/>
            <a:ext cx="548640" cy="0"/>
          </a:xfrm>
          <a:prstGeom prst="line">
            <a:avLst/>
          </a:prstGeom>
          <a:ln w="25400">
            <a:solidFill>
              <a:srgbClr val="696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61120" y="3364992"/>
            <a:ext cx="502920" cy="0"/>
          </a:xfrm>
          <a:prstGeom prst="line">
            <a:avLst/>
          </a:prstGeom>
          <a:ln w="25400">
            <a:solidFill>
              <a:srgbClr val="696F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90672" y="2331720"/>
            <a:ext cx="640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96F76"/>
                </a:solidFill>
                <a:latin typeface="Aptos"/>
              </a:rPr>
              <a:t>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331720"/>
            <a:ext cx="594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96F76"/>
                </a:solidFill>
                <a:latin typeface="Aptos"/>
              </a:rPr>
              <a:t>API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3317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96F76"/>
                </a:solidFill>
                <a:latin typeface="Aptos"/>
              </a:rPr>
              <a:t>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Response data flows back to the frontend and is displayed to the learner.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07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Live project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Open the deployed application and walk through the main learning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96F76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6492240" cy="3291840"/>
          </a:xfrm>
          <a:prstGeom prst="roundRect">
            <a:avLst/>
          </a:prstGeom>
          <a:solidFill>
            <a:srgbClr val="1F2328"/>
          </a:solidFill>
          <a:ln w="10160">
            <a:solidFill>
              <a:srgbClr val="1F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14600"/>
            <a:ext cx="2743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EDBEBE"/>
                </a:solidFill>
                <a:latin typeface="Aptos"/>
              </a:rPr>
              <a:t>LIVE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56692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no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nihongo-journey-psi.vercel.app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754880"/>
            <a:ext cx="2743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EDBEBE"/>
                </a:solidFill>
                <a:latin typeface="Aptos"/>
              </a:rPr>
              <a:t>Frontend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148840"/>
            <a:ext cx="361188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514600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4272B"/>
                </a:solidFill>
                <a:latin typeface="Aptos"/>
              </a:rPr>
              <a:t>Demo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063240"/>
            <a:ext cx="28346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696F76"/>
                </a:solidFill>
                <a:latin typeface="Aptos"/>
              </a:defRPr>
            </a:pPr>
            <a:r>
              <a:t>•  Open the homepage</a:t>
            </a:r>
          </a:p>
          <a:p>
            <a:pPr>
              <a:spcAft>
                <a:spcPts val="1000"/>
              </a:spcAft>
              <a:defRPr sz="1300">
                <a:solidFill>
                  <a:srgbClr val="696F76"/>
                </a:solidFill>
                <a:latin typeface="Aptos"/>
              </a:defRPr>
            </a:pPr>
            <a:r>
              <a:t>•  Choose a JLPT level</a:t>
            </a:r>
          </a:p>
          <a:p>
            <a:pPr>
              <a:spcAft>
                <a:spcPts val="1000"/>
              </a:spcAft>
              <a:defRPr sz="1300">
                <a:solidFill>
                  <a:srgbClr val="696F76"/>
                </a:solidFill>
                <a:latin typeface="Aptos"/>
              </a:defRPr>
            </a:pPr>
            <a:r>
              <a:t>•  Explore grammar or vocabulary</a:t>
            </a:r>
          </a:p>
          <a:p>
            <a:pPr>
              <a:spcAft>
                <a:spcPts val="1000"/>
              </a:spcAft>
              <a:defRPr sz="1300">
                <a:solidFill>
                  <a:srgbClr val="696F76"/>
                </a:solidFill>
                <a:latin typeface="Aptos"/>
              </a:defRPr>
            </a:pPr>
            <a:r>
              <a:t>•  Show how content is loaded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E3137"/>
                </a:solidFill>
                <a:latin typeface="Aptos"/>
              </a:rPr>
              <a:t>Tip: test the deployed site before presenting and keep a backup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08 /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Challenges and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Building and deploying the project involved both frontend and backend problem-solving.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96F76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423160"/>
            <a:ext cx="502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BE313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86584"/>
            <a:ext cx="3840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API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07208"/>
            <a:ext cx="38404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Connecting React components to Express endpoints.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23160"/>
            <a:ext cx="502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BE313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86584"/>
            <a:ext cx="3840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Database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807208"/>
            <a:ext cx="38404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Configuring MongoDB Atlas and environment variables.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023360"/>
            <a:ext cx="502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BE313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86784"/>
            <a:ext cx="3840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07408"/>
            <a:ext cx="38404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Deploying the frontend and backend separately.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4023360"/>
            <a:ext cx="502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BE3137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986784"/>
            <a:ext cx="3840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4272B"/>
                </a:solidFill>
                <a:latin typeface="Aptos"/>
              </a:rPr>
              <a:t>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407408"/>
            <a:ext cx="38404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696F76"/>
                </a:solidFill>
                <a:latin typeface="Aptos"/>
              </a:rPr>
              <a:t>Resolving incorrect paths, API URLs and build errors.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E7968"/>
                </a:solidFill>
                <a:latin typeface="Aptos"/>
              </a:rPr>
              <a:t>Key takeaway: debugging and deployment are important parts of real-world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BE3137"/>
                </a:solidFill>
                <a:latin typeface="Aptos"/>
              </a:rPr>
              <a:t>09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24272B"/>
                </a:solidFill>
                <a:latin typeface="Aptos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696F76"/>
                </a:solidFill>
                <a:latin typeface="Aptos"/>
              </a:rPr>
              <a:t>The next phase is to make learning more interactive and personalised.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64008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696F76"/>
                </a:solidFill>
                <a:latin typeface="Aptos"/>
              </a:rPr>
              <a:t>NIHONGO JOURNEY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96F76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662940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E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95728"/>
            <a:ext cx="36576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24272B"/>
                </a:solidFill>
                <a:latin typeface="Aptos"/>
              </a:rPr>
              <a:t>Planned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56692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User accounts and individual learning progress</a:t>
            </a:r>
          </a:p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Quizzes and practice exercises</a:t>
            </a:r>
          </a:p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Revision tools and spaced repetition</a:t>
            </a:r>
          </a:p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More JLPT levels and richer learning content</a:t>
            </a:r>
          </a:p>
          <a:p>
            <a:pPr>
              <a:spcAft>
                <a:spcPts val="900"/>
              </a:spcAft>
              <a:defRPr sz="1400">
                <a:solidFill>
                  <a:srgbClr val="696F76"/>
                </a:solidFill>
                <a:latin typeface="Aptos"/>
              </a:defRPr>
            </a:pPr>
            <a:r>
              <a:t>•  Video-based learning and real-world Japanese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057400"/>
            <a:ext cx="3429000" cy="3520440"/>
          </a:xfrm>
          <a:prstGeom prst="roundRect">
            <a:avLst/>
          </a:prstGeom>
          <a:solidFill>
            <a:srgbClr val="1F2328"/>
          </a:solidFill>
          <a:ln w="10160">
            <a:solidFill>
              <a:srgbClr val="1F2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697480"/>
            <a:ext cx="28803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ありがとう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566160"/>
            <a:ext cx="288036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EDBEBE"/>
                </a:solidFill>
                <a:latin typeface="Aptos"/>
              </a:rPr>
              <a:t>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43484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102412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BE3137"/>
                </a:solidFill>
                <a:latin typeface="Aptos"/>
              </a:rPr>
              <a:t>Nihongo Journey — making Japanese learning a clearer journey.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