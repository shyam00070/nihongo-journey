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6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2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3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8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1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5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2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2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" name=""/>
        <p:cNvGrpSpPr/>
        <p:nvPr/>
      </p:nvGrpSpPr>
      <p:grpSpPr>
        <a:xfrm/>
      </p:grpSpPr>
      <p:pic>
        <p:nvPicPr>
          <p:cNvPr id="2097152" name="Picture 1" descr="Nihongo_Journey_Cover_Nihongo_Journey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" name=""/>
        <p:cNvGrpSpPr/>
        <p:nvPr/>
      </p:nvGrpSpPr>
      <p:grpSpPr>
        <a:xfrm/>
      </p:grpSpPr>
      <p:sp>
        <p:nvSpPr>
          <p:cNvPr id="1048584" name="Rectangle 1"/>
          <p:cNvSpPr/>
          <p:nvPr/>
        </p:nvSpPr>
        <p:spPr>
          <a:xfrm>
            <a:off x="0" y="6748272"/>
            <a:ext cx="12191695" cy="109728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TextBox 2"/>
          <p:cNvSpPr txBox="1"/>
          <p:nvPr/>
        </p:nvSpPr>
        <p:spPr>
          <a:xfrm>
            <a:off x="594360" y="214122"/>
            <a:ext cx="73152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01 / INTRODUCTION</a:t>
            </a:r>
          </a:p>
        </p:txBody>
      </p:sp>
      <p:sp>
        <p:nvSpPr>
          <p:cNvPr id="1048586" name="TextBox 3"/>
          <p:cNvSpPr txBox="1"/>
          <p:nvPr/>
        </p:nvSpPr>
        <p:spPr>
          <a:xfrm>
            <a:off x="8869680" y="214122"/>
            <a:ext cx="269748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r">
              <a:spcAft>
                <a:spcPts val="0"/>
              </a:spcAft>
            </a:pPr>
            <a:r>
              <a:t>NIHONGO JOURNEY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594360" y="707898"/>
            <a:ext cx="109728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Nihongo Journey: Project Overview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621792" y="1137665"/>
            <a:ext cx="10972800" cy="3032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A website centered on Japanese language learning.</a:t>
            </a:r>
          </a:p>
        </p:txBody>
      </p:sp>
      <p:sp>
        <p:nvSpPr>
          <p:cNvPr id="1048589" name="Rounded Rectangle 6"/>
          <p:cNvSpPr/>
          <p:nvPr/>
        </p:nvSpPr>
        <p:spPr>
          <a:xfrm>
            <a:off x="685800" y="1828800"/>
            <a:ext cx="3429000" cy="182880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0" name="Rectangle 7"/>
          <p:cNvSpPr/>
          <p:nvPr/>
        </p:nvSpPr>
        <p:spPr>
          <a:xfrm>
            <a:off x="685800" y="1874519"/>
            <a:ext cx="64008" cy="173736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1" name="TextBox 8"/>
          <p:cNvSpPr txBox="1"/>
          <p:nvPr/>
        </p:nvSpPr>
        <p:spPr>
          <a:xfrm>
            <a:off x="886968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Project idea</a:t>
            </a:r>
          </a:p>
        </p:txBody>
      </p:sp>
      <p:sp>
        <p:nvSpPr>
          <p:cNvPr id="1048592" name="TextBox 9"/>
          <p:cNvSpPr txBox="1"/>
          <p:nvPr/>
        </p:nvSpPr>
        <p:spPr>
          <a:xfrm>
            <a:off x="886968" y="2548889"/>
            <a:ext cx="3063240" cy="8366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Provide an online starting point for people interested in learning Japanese.</a:t>
            </a:r>
          </a:p>
        </p:txBody>
      </p:sp>
      <p:sp>
        <p:nvSpPr>
          <p:cNvPr id="1048593" name="Rounded Rectangle 10"/>
          <p:cNvSpPr/>
          <p:nvPr/>
        </p:nvSpPr>
        <p:spPr>
          <a:xfrm>
            <a:off x="4370832" y="1828800"/>
            <a:ext cx="3429000" cy="182880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Rectangle 11"/>
          <p:cNvSpPr/>
          <p:nvPr/>
        </p:nvSpPr>
        <p:spPr>
          <a:xfrm>
            <a:off x="4370832" y="1874519"/>
            <a:ext cx="64008" cy="173736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12"/>
          <p:cNvSpPr txBox="1"/>
          <p:nvPr/>
        </p:nvSpPr>
        <p:spPr>
          <a:xfrm>
            <a:off x="4572000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Learning journey</a:t>
            </a:r>
          </a:p>
        </p:txBody>
      </p:sp>
      <p:sp>
        <p:nvSpPr>
          <p:cNvPr id="1048596" name="TextBox 13"/>
          <p:cNvSpPr txBox="1"/>
          <p:nvPr/>
        </p:nvSpPr>
        <p:spPr>
          <a:xfrm>
            <a:off x="4572000" y="2415539"/>
            <a:ext cx="3063240" cy="11033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Present the experience through a dedicated website and organized navigation.</a:t>
            </a:r>
          </a:p>
        </p:txBody>
      </p:sp>
      <p:sp>
        <p:nvSpPr>
          <p:cNvPr id="1048597" name="Rounded Rectangle 14"/>
          <p:cNvSpPr/>
          <p:nvPr/>
        </p:nvSpPr>
        <p:spPr>
          <a:xfrm>
            <a:off x="8065008" y="1828800"/>
            <a:ext cx="3429000" cy="182880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Rectangle 15"/>
          <p:cNvSpPr/>
          <p:nvPr/>
        </p:nvSpPr>
        <p:spPr>
          <a:xfrm>
            <a:off x="8065008" y="1874519"/>
            <a:ext cx="64008" cy="173736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16"/>
          <p:cNvSpPr txBox="1"/>
          <p:nvPr/>
        </p:nvSpPr>
        <p:spPr>
          <a:xfrm>
            <a:off x="8266176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Web access</a:t>
            </a:r>
          </a:p>
        </p:txBody>
      </p:sp>
      <p:sp>
        <p:nvSpPr>
          <p:cNvPr id="1048600" name="TextBox 17"/>
          <p:cNvSpPr txBox="1"/>
          <p:nvPr/>
        </p:nvSpPr>
        <p:spPr>
          <a:xfrm>
            <a:off x="8266176" y="2548889"/>
            <a:ext cx="3063240" cy="8366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The project is deployed online and can be opened through a browser.</a:t>
            </a:r>
          </a:p>
        </p:txBody>
      </p:sp>
      <p:sp>
        <p:nvSpPr>
          <p:cNvPr id="1048601" name="Rounded Rectangle 18"/>
          <p:cNvSpPr/>
          <p:nvPr/>
        </p:nvSpPr>
        <p:spPr>
          <a:xfrm>
            <a:off x="731520" y="4160520"/>
            <a:ext cx="10698480" cy="1097280"/>
          </a:xfrm>
          <a:prstGeom prst="roundRect"/>
          <a:solidFill>
            <a:srgbClr val="F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TextBox 19"/>
          <p:cNvSpPr txBox="1"/>
          <p:nvPr/>
        </p:nvSpPr>
        <p:spPr>
          <a:xfrm>
            <a:off x="914400" y="4264915"/>
            <a:ext cx="10332720" cy="303274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CORE CONCEPT</a:t>
            </a:r>
          </a:p>
        </p:txBody>
      </p:sp>
      <p:sp>
        <p:nvSpPr>
          <p:cNvPr id="1048603" name="TextBox 20"/>
          <p:cNvSpPr txBox="1"/>
          <p:nvPr/>
        </p:nvSpPr>
        <p:spPr>
          <a:xfrm>
            <a:off x="914400" y="4667250"/>
            <a:ext cx="1033272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Make Japanese learning approachable, organized, and easy to begin.</a:t>
            </a:r>
          </a:p>
        </p:txBody>
      </p:sp>
      <p:sp>
        <p:nvSpPr>
          <p:cNvPr id="1048604" name="TextBox 21"/>
          <p:cNvSpPr txBox="1"/>
          <p:nvPr/>
        </p:nvSpPr>
        <p:spPr>
          <a:xfrm>
            <a:off x="731520" y="5974843"/>
            <a:ext cx="10789920" cy="303274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Based on the public repository and live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" name=""/>
        <p:cNvGrpSpPr/>
        <p:nvPr/>
      </p:nvGrpSpPr>
      <p:grpSpPr>
        <a:xfrm/>
      </p:grpSpPr>
      <p:sp>
        <p:nvSpPr>
          <p:cNvPr id="1048605" name="Rectangle 1"/>
          <p:cNvSpPr/>
          <p:nvPr/>
        </p:nvSpPr>
        <p:spPr>
          <a:xfrm>
            <a:off x="0" y="6748272"/>
            <a:ext cx="12191695" cy="109728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TextBox 2"/>
          <p:cNvSpPr txBox="1"/>
          <p:nvPr/>
        </p:nvSpPr>
        <p:spPr>
          <a:xfrm>
            <a:off x="594360" y="214122"/>
            <a:ext cx="73152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02 / PROBLEM</a:t>
            </a:r>
          </a:p>
        </p:txBody>
      </p:sp>
      <p:sp>
        <p:nvSpPr>
          <p:cNvPr id="1048607" name="TextBox 3"/>
          <p:cNvSpPr txBox="1"/>
          <p:nvPr/>
        </p:nvSpPr>
        <p:spPr>
          <a:xfrm>
            <a:off x="8869680" y="214122"/>
            <a:ext cx="269748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r">
              <a:spcAft>
                <a:spcPts val="0"/>
              </a:spcAft>
            </a:pPr>
            <a:r>
              <a:t>NIHONGO JOURNEY</a:t>
            </a:r>
          </a:p>
        </p:txBody>
      </p:sp>
      <p:sp>
        <p:nvSpPr>
          <p:cNvPr id="1048608" name="TextBox 4"/>
          <p:cNvSpPr txBox="1"/>
          <p:nvPr/>
        </p:nvSpPr>
        <p:spPr>
          <a:xfrm>
            <a:off x="594360" y="707898"/>
            <a:ext cx="109728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Problem Statement</a:t>
            </a:r>
          </a:p>
        </p:txBody>
      </p:sp>
      <p:sp>
        <p:nvSpPr>
          <p:cNvPr id="1048609" name="TextBox 5"/>
          <p:cNvSpPr txBox="1"/>
          <p:nvPr/>
        </p:nvSpPr>
        <p:spPr>
          <a:xfrm>
            <a:off x="621792" y="1137665"/>
            <a:ext cx="10972800" cy="3032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A clear starting point can help learners approach Japanese study.</a:t>
            </a:r>
          </a:p>
        </p:txBody>
      </p:sp>
      <p:sp>
        <p:nvSpPr>
          <p:cNvPr id="1048610" name="Rounded Rectangle 6"/>
          <p:cNvSpPr/>
          <p:nvPr/>
        </p:nvSpPr>
        <p:spPr>
          <a:xfrm>
            <a:off x="731520" y="1828800"/>
            <a:ext cx="3429000" cy="201168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1" name="Rectangle 7"/>
          <p:cNvSpPr/>
          <p:nvPr/>
        </p:nvSpPr>
        <p:spPr>
          <a:xfrm>
            <a:off x="731520" y="1874519"/>
            <a:ext cx="64008" cy="192024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8"/>
          <p:cNvSpPr txBox="1"/>
          <p:nvPr/>
        </p:nvSpPr>
        <p:spPr>
          <a:xfrm>
            <a:off x="932688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Getting started</a:t>
            </a:r>
          </a:p>
        </p:txBody>
      </p:sp>
      <p:sp>
        <p:nvSpPr>
          <p:cNvPr id="1048613" name="TextBox 9"/>
          <p:cNvSpPr txBox="1"/>
          <p:nvPr/>
        </p:nvSpPr>
        <p:spPr>
          <a:xfrm>
            <a:off x="932688" y="2506980"/>
            <a:ext cx="3063240" cy="11033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Japanese writing systems and unfamiliar language patterns may feel challenging to beginners.</a:t>
            </a:r>
          </a:p>
        </p:txBody>
      </p:sp>
      <p:sp>
        <p:nvSpPr>
          <p:cNvPr id="1048614" name="Rounded Rectangle 10"/>
          <p:cNvSpPr/>
          <p:nvPr/>
        </p:nvSpPr>
        <p:spPr>
          <a:xfrm>
            <a:off x="4389120" y="1828800"/>
            <a:ext cx="3429000" cy="201168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5" name="Rectangle 11"/>
          <p:cNvSpPr/>
          <p:nvPr/>
        </p:nvSpPr>
        <p:spPr>
          <a:xfrm>
            <a:off x="4389120" y="1874519"/>
            <a:ext cx="64008" cy="192024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6" name="TextBox 12"/>
          <p:cNvSpPr txBox="1"/>
          <p:nvPr/>
        </p:nvSpPr>
        <p:spPr>
          <a:xfrm>
            <a:off x="4590288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Finding structure</a:t>
            </a:r>
          </a:p>
        </p:txBody>
      </p:sp>
      <p:sp>
        <p:nvSpPr>
          <p:cNvPr id="1048617" name="TextBox 13"/>
          <p:cNvSpPr txBox="1"/>
          <p:nvPr/>
        </p:nvSpPr>
        <p:spPr>
          <a:xfrm>
            <a:off x="4590288" y="2506980"/>
            <a:ext cx="3063240" cy="11033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Learners benefit when content and website sections are easy to navigate.</a:t>
            </a:r>
          </a:p>
        </p:txBody>
      </p:sp>
      <p:sp>
        <p:nvSpPr>
          <p:cNvPr id="1048618" name="Rounded Rectangle 14"/>
          <p:cNvSpPr/>
          <p:nvPr/>
        </p:nvSpPr>
        <p:spPr>
          <a:xfrm>
            <a:off x="8046720" y="1828800"/>
            <a:ext cx="3429000" cy="201168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9" name="Rectangle 15"/>
          <p:cNvSpPr/>
          <p:nvPr/>
        </p:nvSpPr>
        <p:spPr>
          <a:xfrm>
            <a:off x="8046720" y="1874519"/>
            <a:ext cx="64008" cy="192024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16"/>
          <p:cNvSpPr txBox="1"/>
          <p:nvPr/>
        </p:nvSpPr>
        <p:spPr>
          <a:xfrm>
            <a:off x="8247888" y="196977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Staying engaged</a:t>
            </a:r>
          </a:p>
        </p:txBody>
      </p:sp>
      <p:sp>
        <p:nvSpPr>
          <p:cNvPr id="1048621" name="TextBox 17"/>
          <p:cNvSpPr txBox="1"/>
          <p:nvPr/>
        </p:nvSpPr>
        <p:spPr>
          <a:xfrm>
            <a:off x="8247888" y="2506980"/>
            <a:ext cx="3063240" cy="11033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A dedicated web experience makes it convenient to revisit learning resources.</a:t>
            </a:r>
          </a:p>
        </p:txBody>
      </p:sp>
      <p:sp>
        <p:nvSpPr>
          <p:cNvPr id="1048622" name="TextBox 18"/>
          <p:cNvSpPr txBox="1"/>
          <p:nvPr/>
        </p:nvSpPr>
        <p:spPr>
          <a:xfrm>
            <a:off x="914400" y="4420361"/>
            <a:ext cx="10332720" cy="3032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PROJECT GOAL</a:t>
            </a:r>
          </a:p>
        </p:txBody>
      </p:sp>
      <p:sp>
        <p:nvSpPr>
          <p:cNvPr id="1048623" name="TextBox 19"/>
          <p:cNvSpPr txBox="1"/>
          <p:nvPr/>
        </p:nvSpPr>
        <p:spPr>
          <a:xfrm>
            <a:off x="1097280" y="5014722"/>
            <a:ext cx="996696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Present Japanese-learning content through a single, accessible web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" name=""/>
        <p:cNvGrpSpPr/>
        <p:nvPr/>
      </p:nvGrpSpPr>
      <p:grpSpPr>
        <a:xfrm/>
      </p:grpSpPr>
      <p:sp>
        <p:nvSpPr>
          <p:cNvPr id="1048624" name="Rectangle 1"/>
          <p:cNvSpPr/>
          <p:nvPr/>
        </p:nvSpPr>
        <p:spPr>
          <a:xfrm>
            <a:off x="0" y="6748272"/>
            <a:ext cx="12191695" cy="109728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2"/>
          <p:cNvSpPr txBox="1"/>
          <p:nvPr/>
        </p:nvSpPr>
        <p:spPr>
          <a:xfrm>
            <a:off x="594360" y="214122"/>
            <a:ext cx="73152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03 / FEATURES &amp; MODULES</a:t>
            </a:r>
          </a:p>
        </p:txBody>
      </p:sp>
      <p:sp>
        <p:nvSpPr>
          <p:cNvPr id="1048626" name="TextBox 3"/>
          <p:cNvSpPr txBox="1"/>
          <p:nvPr/>
        </p:nvSpPr>
        <p:spPr>
          <a:xfrm>
            <a:off x="8869680" y="214122"/>
            <a:ext cx="269748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r">
              <a:spcAft>
                <a:spcPts val="0"/>
              </a:spcAft>
            </a:pPr>
            <a:r>
              <a:t>NIHONGO JOURNEY</a:t>
            </a:r>
          </a:p>
        </p:txBody>
      </p:sp>
      <p:sp>
        <p:nvSpPr>
          <p:cNvPr id="1048627" name="TextBox 4"/>
          <p:cNvSpPr txBox="1"/>
          <p:nvPr/>
        </p:nvSpPr>
        <p:spPr>
          <a:xfrm>
            <a:off x="594360" y="707898"/>
            <a:ext cx="1097280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Main Website Areas</a:t>
            </a:r>
          </a:p>
        </p:txBody>
      </p:sp>
      <p:sp>
        <p:nvSpPr>
          <p:cNvPr id="1048628" name="TextBox 5"/>
          <p:cNvSpPr txBox="1"/>
          <p:nvPr/>
        </p:nvSpPr>
        <p:spPr>
          <a:xfrm>
            <a:off x="621792" y="1137665"/>
            <a:ext cx="10972800" cy="3032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High-level overview; confirm specific learning features on the deployed site.</a:t>
            </a:r>
          </a:p>
        </p:txBody>
      </p:sp>
      <p:sp>
        <p:nvSpPr>
          <p:cNvPr id="1048629" name="Rounded Rectangle 6"/>
          <p:cNvSpPr/>
          <p:nvPr/>
        </p:nvSpPr>
        <p:spPr>
          <a:xfrm>
            <a:off x="685800" y="16916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Rectangle 7"/>
          <p:cNvSpPr/>
          <p:nvPr/>
        </p:nvSpPr>
        <p:spPr>
          <a:xfrm>
            <a:off x="685800" y="1737360"/>
            <a:ext cx="64008" cy="1417319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1" name="TextBox 8"/>
          <p:cNvSpPr txBox="1"/>
          <p:nvPr/>
        </p:nvSpPr>
        <p:spPr>
          <a:xfrm>
            <a:off x="886968" y="18326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Landing page</a:t>
            </a:r>
          </a:p>
        </p:txBody>
      </p:sp>
      <p:sp>
        <p:nvSpPr>
          <p:cNvPr id="1048632" name="TextBox 9"/>
          <p:cNvSpPr txBox="1"/>
          <p:nvPr/>
        </p:nvSpPr>
        <p:spPr>
          <a:xfrm>
            <a:off x="886968" y="2251709"/>
            <a:ext cx="3063240" cy="8366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Introduces Nihongo Journey and points users into the site.</a:t>
            </a:r>
          </a:p>
        </p:txBody>
      </p:sp>
      <p:sp>
        <p:nvSpPr>
          <p:cNvPr id="1048633" name="Rounded Rectangle 10"/>
          <p:cNvSpPr/>
          <p:nvPr/>
        </p:nvSpPr>
        <p:spPr>
          <a:xfrm>
            <a:off x="4370832" y="16916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4" name="Rectangle 11"/>
          <p:cNvSpPr/>
          <p:nvPr/>
        </p:nvSpPr>
        <p:spPr>
          <a:xfrm>
            <a:off x="4370832" y="1737360"/>
            <a:ext cx="64008" cy="1417319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TextBox 12"/>
          <p:cNvSpPr txBox="1"/>
          <p:nvPr/>
        </p:nvSpPr>
        <p:spPr>
          <a:xfrm>
            <a:off x="4572000" y="18326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Navigation</a:t>
            </a:r>
          </a:p>
        </p:txBody>
      </p:sp>
      <p:sp>
        <p:nvSpPr>
          <p:cNvPr id="1048636" name="TextBox 13"/>
          <p:cNvSpPr txBox="1"/>
          <p:nvPr/>
        </p:nvSpPr>
        <p:spPr>
          <a:xfrm>
            <a:off x="4572000" y="2251709"/>
            <a:ext cx="3063240" cy="8366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Helps users move between the available pages and sections.</a:t>
            </a:r>
          </a:p>
        </p:txBody>
      </p:sp>
      <p:sp>
        <p:nvSpPr>
          <p:cNvPr id="1048637" name="Rounded Rectangle 14"/>
          <p:cNvSpPr/>
          <p:nvPr/>
        </p:nvSpPr>
        <p:spPr>
          <a:xfrm>
            <a:off x="8065008" y="16916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8" name="Rectangle 15"/>
          <p:cNvSpPr/>
          <p:nvPr/>
        </p:nvSpPr>
        <p:spPr>
          <a:xfrm>
            <a:off x="8065008" y="1737360"/>
            <a:ext cx="64008" cy="1417319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TextBox 16"/>
          <p:cNvSpPr txBox="1"/>
          <p:nvPr/>
        </p:nvSpPr>
        <p:spPr>
          <a:xfrm>
            <a:off x="8266176" y="18326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Learning theme</a:t>
            </a:r>
          </a:p>
        </p:txBody>
      </p:sp>
      <p:sp>
        <p:nvSpPr>
          <p:cNvPr id="1048640" name="TextBox 17"/>
          <p:cNvSpPr txBox="1"/>
          <p:nvPr/>
        </p:nvSpPr>
        <p:spPr>
          <a:xfrm>
            <a:off x="8266176" y="2251709"/>
            <a:ext cx="3063240" cy="8366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The project is focused on Japanese-language learning.</a:t>
            </a:r>
          </a:p>
        </p:txBody>
      </p:sp>
      <p:sp>
        <p:nvSpPr>
          <p:cNvPr id="1048641" name="Rounded Rectangle 18"/>
          <p:cNvSpPr/>
          <p:nvPr/>
        </p:nvSpPr>
        <p:spPr>
          <a:xfrm>
            <a:off x="685800" y="35204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Rectangle 19"/>
          <p:cNvSpPr/>
          <p:nvPr/>
        </p:nvSpPr>
        <p:spPr>
          <a:xfrm>
            <a:off x="685800" y="3566160"/>
            <a:ext cx="64008" cy="1417319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TextBox 20"/>
          <p:cNvSpPr txBox="1"/>
          <p:nvPr/>
        </p:nvSpPr>
        <p:spPr>
          <a:xfrm>
            <a:off x="886968" y="36614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React interface</a:t>
            </a:r>
          </a:p>
        </p:txBody>
      </p:sp>
      <p:sp>
        <p:nvSpPr>
          <p:cNvPr id="1048644" name="TextBox 21"/>
          <p:cNvSpPr txBox="1"/>
          <p:nvPr/>
        </p:nvSpPr>
        <p:spPr>
          <a:xfrm>
            <a:off x="886968" y="4213858"/>
            <a:ext cx="3063240" cy="5699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Uses React to build the web user interface.</a:t>
            </a:r>
          </a:p>
        </p:txBody>
      </p:sp>
      <p:sp>
        <p:nvSpPr>
          <p:cNvPr id="1048645" name="Rounded Rectangle 22"/>
          <p:cNvSpPr/>
          <p:nvPr/>
        </p:nvSpPr>
        <p:spPr>
          <a:xfrm>
            <a:off x="4370832" y="35204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Rectangle 23"/>
          <p:cNvSpPr/>
          <p:nvPr/>
        </p:nvSpPr>
        <p:spPr>
          <a:xfrm>
            <a:off x="4370832" y="3566160"/>
            <a:ext cx="64008" cy="1417319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TextBox 24"/>
          <p:cNvSpPr txBox="1"/>
          <p:nvPr/>
        </p:nvSpPr>
        <p:spPr>
          <a:xfrm>
            <a:off x="4572000" y="36614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Page routing</a:t>
            </a:r>
          </a:p>
        </p:txBody>
      </p:sp>
      <p:sp>
        <p:nvSpPr>
          <p:cNvPr id="1048648" name="TextBox 25"/>
          <p:cNvSpPr txBox="1"/>
          <p:nvPr/>
        </p:nvSpPr>
        <p:spPr>
          <a:xfrm>
            <a:off x="4572000" y="4213858"/>
            <a:ext cx="3063240" cy="5699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React Router is listed in the project dependencies.</a:t>
            </a:r>
          </a:p>
        </p:txBody>
      </p:sp>
      <p:sp>
        <p:nvSpPr>
          <p:cNvPr id="1048649" name="Rounded Rectangle 26"/>
          <p:cNvSpPr/>
          <p:nvPr/>
        </p:nvSpPr>
        <p:spPr>
          <a:xfrm>
            <a:off x="8065008" y="3520440"/>
            <a:ext cx="3429000" cy="150876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Rectangle 27"/>
          <p:cNvSpPr/>
          <p:nvPr/>
        </p:nvSpPr>
        <p:spPr>
          <a:xfrm>
            <a:off x="8065008" y="3566160"/>
            <a:ext cx="64008" cy="1417319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TextBox 28"/>
          <p:cNvSpPr txBox="1"/>
          <p:nvPr/>
        </p:nvSpPr>
        <p:spPr>
          <a:xfrm>
            <a:off x="8266176" y="3661410"/>
            <a:ext cx="3063240" cy="303276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Interface icons</a:t>
            </a:r>
          </a:p>
        </p:txBody>
      </p:sp>
      <p:sp>
        <p:nvSpPr>
          <p:cNvPr id="1048652" name="TextBox 29"/>
          <p:cNvSpPr txBox="1"/>
          <p:nvPr/>
        </p:nvSpPr>
        <p:spPr>
          <a:xfrm>
            <a:off x="8266176" y="4213858"/>
            <a:ext cx="3063240" cy="569977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Lucide React is included as an icon library.</a:t>
            </a:r>
          </a:p>
        </p:txBody>
      </p:sp>
      <p:sp>
        <p:nvSpPr>
          <p:cNvPr id="1048653" name="TextBox 30"/>
          <p:cNvSpPr txBox="1"/>
          <p:nvPr/>
        </p:nvSpPr>
        <p:spPr>
          <a:xfrm>
            <a:off x="731520" y="5586221"/>
            <a:ext cx="10789920" cy="30327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Detailed lessons, account features, or saved progress are not claimed unless verified in the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654" name="Rectangle 1"/>
          <p:cNvSpPr/>
          <p:nvPr/>
        </p:nvSpPr>
        <p:spPr>
          <a:xfrm>
            <a:off x="0" y="6748272"/>
            <a:ext cx="12191695" cy="109728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TextBox 2"/>
          <p:cNvSpPr txBox="1"/>
          <p:nvPr/>
        </p:nvSpPr>
        <p:spPr>
          <a:xfrm>
            <a:off x="594360" y="228600"/>
            <a:ext cx="7315200" cy="27432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04 / TECHNOLOGY</a:t>
            </a:r>
          </a:p>
        </p:txBody>
      </p:sp>
      <p:sp>
        <p:nvSpPr>
          <p:cNvPr id="1048656" name="TextBox 3"/>
          <p:cNvSpPr txBox="1"/>
          <p:nvPr/>
        </p:nvSpPr>
        <p:spPr>
          <a:xfrm>
            <a:off x="8869680" y="228600"/>
            <a:ext cx="2697480" cy="27432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r">
              <a:spcAft>
                <a:spcPts val="0"/>
              </a:spcAft>
            </a:pPr>
            <a:r>
              <a:t>NIHONGO JOURNEY</a:t>
            </a:r>
          </a:p>
        </p:txBody>
      </p:sp>
      <p:sp>
        <p:nvSpPr>
          <p:cNvPr id="1048657" name="TextBox 4"/>
          <p:cNvSpPr txBox="1"/>
          <p:nvPr/>
        </p:nvSpPr>
        <p:spPr>
          <a:xfrm>
            <a:off x="594360" y="594360"/>
            <a:ext cx="10972800" cy="53035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Technology Stack</a:t>
            </a:r>
          </a:p>
        </p:txBody>
      </p:sp>
      <p:sp>
        <p:nvSpPr>
          <p:cNvPr id="1048658" name="TextBox 5"/>
          <p:cNvSpPr txBox="1"/>
          <p:nvPr/>
        </p:nvSpPr>
        <p:spPr>
          <a:xfrm>
            <a:off x="621792" y="1097280"/>
            <a:ext cx="10972800" cy="38404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Identified from the repository's package.json.</a:t>
            </a:r>
          </a:p>
        </p:txBody>
      </p:sp>
      <p:sp>
        <p:nvSpPr>
          <p:cNvPr id="1048659" name="Rounded Rectangle 6"/>
          <p:cNvSpPr/>
          <p:nvPr/>
        </p:nvSpPr>
        <p:spPr>
          <a:xfrm>
            <a:off x="713232" y="169164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Rectangle 7"/>
          <p:cNvSpPr/>
          <p:nvPr/>
        </p:nvSpPr>
        <p:spPr>
          <a:xfrm>
            <a:off x="713232" y="1737360"/>
            <a:ext cx="64008" cy="132588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1" name="TextBox 8"/>
          <p:cNvSpPr txBox="1"/>
          <p:nvPr/>
        </p:nvSpPr>
        <p:spPr>
          <a:xfrm>
            <a:off x="914400" y="180136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React</a:t>
            </a:r>
          </a:p>
        </p:txBody>
      </p:sp>
      <p:sp>
        <p:nvSpPr>
          <p:cNvPr id="1048662" name="TextBox 9"/>
          <p:cNvSpPr txBox="1"/>
          <p:nvPr/>
        </p:nvSpPr>
        <p:spPr>
          <a:xfrm>
            <a:off x="914400" y="222199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Builds the component-based user interface.</a:t>
            </a:r>
          </a:p>
        </p:txBody>
      </p:sp>
      <p:sp>
        <p:nvSpPr>
          <p:cNvPr id="1048663" name="Rounded Rectangle 10"/>
          <p:cNvSpPr/>
          <p:nvPr/>
        </p:nvSpPr>
        <p:spPr>
          <a:xfrm>
            <a:off x="4370832" y="169164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Rectangle 11"/>
          <p:cNvSpPr/>
          <p:nvPr/>
        </p:nvSpPr>
        <p:spPr>
          <a:xfrm>
            <a:off x="4370832" y="1737360"/>
            <a:ext cx="64008" cy="132588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TextBox 12"/>
          <p:cNvSpPr txBox="1"/>
          <p:nvPr/>
        </p:nvSpPr>
        <p:spPr>
          <a:xfrm>
            <a:off x="4572000" y="180136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Vite</a:t>
            </a:r>
          </a:p>
        </p:txBody>
      </p:sp>
      <p:sp>
        <p:nvSpPr>
          <p:cNvPr id="1048666" name="TextBox 13"/>
          <p:cNvSpPr txBox="1"/>
          <p:nvPr/>
        </p:nvSpPr>
        <p:spPr>
          <a:xfrm>
            <a:off x="4572000" y="222199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Provides frontend development and production build tooling.</a:t>
            </a:r>
          </a:p>
        </p:txBody>
      </p:sp>
      <p:sp>
        <p:nvSpPr>
          <p:cNvPr id="1048667" name="Rounded Rectangle 14"/>
          <p:cNvSpPr/>
          <p:nvPr/>
        </p:nvSpPr>
        <p:spPr>
          <a:xfrm>
            <a:off x="8028431" y="169164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8" name="Rectangle 15"/>
          <p:cNvSpPr/>
          <p:nvPr/>
        </p:nvSpPr>
        <p:spPr>
          <a:xfrm>
            <a:off x="8028431" y="1737360"/>
            <a:ext cx="64008" cy="132588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TextBox 16"/>
          <p:cNvSpPr txBox="1"/>
          <p:nvPr/>
        </p:nvSpPr>
        <p:spPr>
          <a:xfrm>
            <a:off x="8229600" y="180136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Tailwind CSS</a:t>
            </a:r>
          </a:p>
        </p:txBody>
      </p:sp>
      <p:sp>
        <p:nvSpPr>
          <p:cNvPr id="1048670" name="TextBox 17"/>
          <p:cNvSpPr txBox="1"/>
          <p:nvPr/>
        </p:nvSpPr>
        <p:spPr>
          <a:xfrm>
            <a:off x="8229600" y="222199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Styling framework; its Vite plugin is listed.</a:t>
            </a:r>
          </a:p>
        </p:txBody>
      </p:sp>
      <p:sp>
        <p:nvSpPr>
          <p:cNvPr id="1048671" name="Rounded Rectangle 18"/>
          <p:cNvSpPr/>
          <p:nvPr/>
        </p:nvSpPr>
        <p:spPr>
          <a:xfrm>
            <a:off x="713232" y="342900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Rectangle 19"/>
          <p:cNvSpPr/>
          <p:nvPr/>
        </p:nvSpPr>
        <p:spPr>
          <a:xfrm>
            <a:off x="713232" y="3474720"/>
            <a:ext cx="64008" cy="132588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3" name="TextBox 20"/>
          <p:cNvSpPr txBox="1"/>
          <p:nvPr/>
        </p:nvSpPr>
        <p:spPr>
          <a:xfrm>
            <a:off x="914400" y="353872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React Router</a:t>
            </a:r>
          </a:p>
        </p:txBody>
      </p:sp>
      <p:sp>
        <p:nvSpPr>
          <p:cNvPr id="1048674" name="TextBox 21"/>
          <p:cNvSpPr txBox="1"/>
          <p:nvPr/>
        </p:nvSpPr>
        <p:spPr>
          <a:xfrm>
            <a:off x="914400" y="395935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Supports client-side page navigation.</a:t>
            </a:r>
          </a:p>
        </p:txBody>
      </p:sp>
      <p:sp>
        <p:nvSpPr>
          <p:cNvPr id="1048675" name="Rounded Rectangle 22"/>
          <p:cNvSpPr/>
          <p:nvPr/>
        </p:nvSpPr>
        <p:spPr>
          <a:xfrm>
            <a:off x="4370832" y="342900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Rectangle 23"/>
          <p:cNvSpPr/>
          <p:nvPr/>
        </p:nvSpPr>
        <p:spPr>
          <a:xfrm>
            <a:off x="4370832" y="3474720"/>
            <a:ext cx="64008" cy="132588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7" name="TextBox 24"/>
          <p:cNvSpPr txBox="1"/>
          <p:nvPr/>
        </p:nvSpPr>
        <p:spPr>
          <a:xfrm>
            <a:off x="4572000" y="353872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Lucide React</a:t>
            </a:r>
          </a:p>
        </p:txBody>
      </p:sp>
      <p:sp>
        <p:nvSpPr>
          <p:cNvPr id="1048678" name="TextBox 25"/>
          <p:cNvSpPr txBox="1"/>
          <p:nvPr/>
        </p:nvSpPr>
        <p:spPr>
          <a:xfrm>
            <a:off x="4572000" y="395935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Icon library included as a dependency.</a:t>
            </a:r>
          </a:p>
        </p:txBody>
      </p:sp>
      <p:sp>
        <p:nvSpPr>
          <p:cNvPr id="1048679" name="Rounded Rectangle 26"/>
          <p:cNvSpPr/>
          <p:nvPr/>
        </p:nvSpPr>
        <p:spPr>
          <a:xfrm>
            <a:off x="8028431" y="3429000"/>
            <a:ext cx="3429000" cy="141732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Rectangle 27"/>
          <p:cNvSpPr/>
          <p:nvPr/>
        </p:nvSpPr>
        <p:spPr>
          <a:xfrm>
            <a:off x="8028431" y="3474720"/>
            <a:ext cx="64008" cy="132588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1" name="TextBox 28"/>
          <p:cNvSpPr txBox="1"/>
          <p:nvPr/>
        </p:nvSpPr>
        <p:spPr>
          <a:xfrm>
            <a:off x="8229600" y="3538728"/>
            <a:ext cx="306324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Vercel</a:t>
            </a:r>
          </a:p>
        </p:txBody>
      </p:sp>
      <p:sp>
        <p:nvSpPr>
          <p:cNvPr id="1048682" name="TextBox 29"/>
          <p:cNvSpPr txBox="1"/>
          <p:nvPr/>
        </p:nvSpPr>
        <p:spPr>
          <a:xfrm>
            <a:off x="8229600" y="3959352"/>
            <a:ext cx="3063240" cy="80467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The project is deployed at a Vercel URL.</a:t>
            </a:r>
          </a:p>
        </p:txBody>
      </p:sp>
      <p:sp>
        <p:nvSpPr>
          <p:cNvPr id="1048683" name="TextBox 30"/>
          <p:cNvSpPr txBox="1"/>
          <p:nvPr/>
        </p:nvSpPr>
        <p:spPr>
          <a:xfrm>
            <a:off x="777240" y="5349240"/>
            <a:ext cx="10789920" cy="5943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The repository lists React, React DOM, Vite, Tailwind CSS, React Router, and Lucide React. This deck does not assume a separate database or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" name=""/>
        <p:cNvGrpSpPr/>
        <p:nvPr/>
      </p:nvGrpSpPr>
      <p:grpSpPr>
        <a:xfrm/>
      </p:grpSpPr>
      <p:sp>
        <p:nvSpPr>
          <p:cNvPr id="1048684" name="Rectangle 1"/>
          <p:cNvSpPr/>
          <p:nvPr/>
        </p:nvSpPr>
        <p:spPr>
          <a:xfrm>
            <a:off x="0" y="6748272"/>
            <a:ext cx="12191695" cy="109728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TextBox 2"/>
          <p:cNvSpPr txBox="1"/>
          <p:nvPr/>
        </p:nvSpPr>
        <p:spPr>
          <a:xfrm>
            <a:off x="594360" y="228600"/>
            <a:ext cx="7315200" cy="27432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05 / REFERENCES &amp; CONCLUSION</a:t>
            </a:r>
          </a:p>
        </p:txBody>
      </p:sp>
      <p:sp>
        <p:nvSpPr>
          <p:cNvPr id="1048686" name="TextBox 3"/>
          <p:cNvSpPr txBox="1"/>
          <p:nvPr/>
        </p:nvSpPr>
        <p:spPr>
          <a:xfrm>
            <a:off x="8869680" y="228600"/>
            <a:ext cx="2697480" cy="27432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r">
              <a:spcAft>
                <a:spcPts val="0"/>
              </a:spcAft>
            </a:pPr>
            <a:r>
              <a:t>NIHONGO JOURNEY</a:t>
            </a:r>
          </a:p>
        </p:txBody>
      </p:sp>
      <p:sp>
        <p:nvSpPr>
          <p:cNvPr id="1048687" name="TextBox 4"/>
          <p:cNvSpPr txBox="1"/>
          <p:nvPr/>
        </p:nvSpPr>
        <p:spPr>
          <a:xfrm>
            <a:off x="594360" y="594360"/>
            <a:ext cx="10972800" cy="53035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References &amp; Conclusion</a:t>
            </a:r>
          </a:p>
        </p:txBody>
      </p:sp>
      <p:sp>
        <p:nvSpPr>
          <p:cNvPr id="1048688" name="TextBox 5"/>
          <p:cNvSpPr txBox="1"/>
          <p:nvPr/>
        </p:nvSpPr>
        <p:spPr>
          <a:xfrm>
            <a:off x="621792" y="1097280"/>
            <a:ext cx="10972800" cy="38404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Project source and live deployment.</a:t>
            </a:r>
          </a:p>
        </p:txBody>
      </p:sp>
      <p:sp>
        <p:nvSpPr>
          <p:cNvPr id="1048689" name="Rounded Rectangle 6"/>
          <p:cNvSpPr/>
          <p:nvPr/>
        </p:nvSpPr>
        <p:spPr>
          <a:xfrm>
            <a:off x="731520" y="1645920"/>
            <a:ext cx="5212080" cy="182880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Rectangle 7"/>
          <p:cNvSpPr/>
          <p:nvPr/>
        </p:nvSpPr>
        <p:spPr>
          <a:xfrm>
            <a:off x="731520" y="1691640"/>
            <a:ext cx="64008" cy="1737360"/>
          </a:xfrm>
          <a:prstGeom prst="rect"/>
          <a:solidFill>
            <a:srgbClr val="BE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1" name="TextBox 8"/>
          <p:cNvSpPr txBox="1"/>
          <p:nvPr/>
        </p:nvSpPr>
        <p:spPr>
          <a:xfrm>
            <a:off x="932688" y="1755648"/>
            <a:ext cx="484632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SOURCE CODE</a:t>
            </a:r>
          </a:p>
        </p:txBody>
      </p:sp>
      <p:sp>
        <p:nvSpPr>
          <p:cNvPr id="1048692" name="TextBox 9"/>
          <p:cNvSpPr txBox="1"/>
          <p:nvPr/>
        </p:nvSpPr>
        <p:spPr>
          <a:xfrm>
            <a:off x="932688" y="2176272"/>
            <a:ext cx="4846320" cy="121615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GitHub repository</a:t>
            </a:r>
            <a:br/>
            <a:r>
              <a:t>https://github.com/Shyam00070/nihongo-journey</a:t>
            </a:r>
            <a:br/>
            <a:br/>
            <a:r>
              <a:t>Review src/, server/, package.json, and README.md.</a:t>
            </a:r>
          </a:p>
        </p:txBody>
      </p:sp>
      <p:sp>
        <p:nvSpPr>
          <p:cNvPr id="1048693" name="Rounded Rectangle 10"/>
          <p:cNvSpPr/>
          <p:nvPr/>
        </p:nvSpPr>
        <p:spPr>
          <a:xfrm>
            <a:off x="6217920" y="1645920"/>
            <a:ext cx="5212080" cy="1828800"/>
          </a:xfrm>
          <a:prstGeom prst="roundRect"/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Rectangle 11"/>
          <p:cNvSpPr/>
          <p:nvPr/>
        </p:nvSpPr>
        <p:spPr>
          <a:xfrm>
            <a:off x="6217920" y="1691640"/>
            <a:ext cx="64008" cy="1737360"/>
          </a:xfrm>
          <a:prstGeom prst="rect"/>
          <a:solidFill>
            <a:srgbClr val="1B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5" name="TextBox 12"/>
          <p:cNvSpPr txBox="1"/>
          <p:nvPr/>
        </p:nvSpPr>
        <p:spPr>
          <a:xfrm>
            <a:off x="6419088" y="1755648"/>
            <a:ext cx="484632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LIVE WEBSITE</a:t>
            </a:r>
          </a:p>
        </p:txBody>
      </p:sp>
      <p:sp>
        <p:nvSpPr>
          <p:cNvPr id="1048696" name="TextBox 13"/>
          <p:cNvSpPr txBox="1"/>
          <p:nvPr/>
        </p:nvSpPr>
        <p:spPr>
          <a:xfrm>
            <a:off x="6419088" y="2176272"/>
            <a:ext cx="4846320" cy="1216152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l">
              <a:spcAft>
                <a:spcPts val="0"/>
              </a:spcAft>
            </a:pPr>
            <a:r>
              <a:t>https://nihongo-journey-psi.vercel.app/</a:t>
            </a:r>
            <a:br/>
            <a:br/>
            <a:r>
              <a:t>Open the deployed site to explore the current interface.</a:t>
            </a:r>
          </a:p>
        </p:txBody>
      </p:sp>
      <p:sp>
        <p:nvSpPr>
          <p:cNvPr id="1048697" name="TextBox 14"/>
          <p:cNvSpPr txBox="1"/>
          <p:nvPr/>
        </p:nvSpPr>
        <p:spPr>
          <a:xfrm>
            <a:off x="914400" y="3931920"/>
            <a:ext cx="10332720" cy="36576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r>
              <a:t>References</a:t>
            </a:r>
          </a:p>
        </p:txBody>
      </p:sp>
      <p:sp>
        <p:nvSpPr>
          <p:cNvPr id="1048698" name="TextBox 15"/>
          <p:cNvSpPr txBox="1"/>
          <p:nvPr/>
        </p:nvSpPr>
        <p:spPr>
          <a:xfrm>
            <a:off x="1097280" y="4389120"/>
            <a:ext cx="9966960" cy="777240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Nihongo Journey presents a Japanese-learning theme through a browser-based experience built with modern frontend tools.</a:t>
            </a:r>
          </a:p>
        </p:txBody>
      </p:sp>
      <p:sp>
        <p:nvSpPr>
          <p:cNvPr id="1048699" name="Rounded Rectangle 16"/>
          <p:cNvSpPr/>
          <p:nvPr/>
        </p:nvSpPr>
        <p:spPr>
          <a:xfrm>
            <a:off x="3383280" y="5486400"/>
            <a:ext cx="5394960" cy="566928"/>
          </a:xfrm>
          <a:prstGeom prst="roundRect"/>
          <a:solidFill>
            <a:srgbClr val="FA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TextBox 17"/>
          <p:cNvSpPr txBox="1"/>
          <p:nvPr/>
        </p:nvSpPr>
        <p:spPr>
          <a:xfrm>
            <a:off x="3520440" y="5559552"/>
            <a:ext cx="5120640" cy="384048"/>
          </a:xfrm>
          <a:prstGeom prst="rect"/>
          <a:noFill/>
        </p:spPr>
        <p:txBody>
          <a:bodyPr anchor="ctr" bIns="18288" lIns="64008" rIns="64008" tIns="18288" wrap="square">
            <a:spAutoFit/>
          </a:bodyPr>
          <a:p>
            <a:pPr algn="ctr">
              <a:spcAft>
                <a:spcPts val="0"/>
              </a:spcAft>
            </a:pPr>
            <a:r>
              <a:t>THANK YOU  •  QUESTIONS &amp;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"/>
        <p:cNvGrpSpPr/>
        <p:nvPr/>
      </p:nvGrpSpPr>
      <p:grpSpPr>
        <a:xfrm/>
      </p:grpSpPr>
      <p:sp>
        <p:nvSpPr>
          <p:cNvPr id="1048701" name="TextBox 1"/>
          <p:cNvSpPr txBox="1"/>
          <p:nvPr/>
        </p:nvSpPr>
        <p:spPr>
          <a:xfrm>
            <a:off x="731520" y="640080"/>
            <a:ext cx="10744200" cy="64008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3000">
                <a:solidFill>
                  <a:srgbClr val="FF1493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1048702" name="Rectangle 2"/>
          <p:cNvSpPr/>
          <p:nvPr/>
        </p:nvSpPr>
        <p:spPr>
          <a:xfrm>
            <a:off x="4206240" y="1417320"/>
            <a:ext cx="3794760" cy="45720"/>
          </a:xfrm>
          <a:prstGeom prst="rect"/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3" name="TextBox 3"/>
          <p:cNvSpPr txBox="1"/>
          <p:nvPr/>
        </p:nvSpPr>
        <p:spPr>
          <a:xfrm>
            <a:off x="914400" y="1691640"/>
            <a:ext cx="10332720" cy="502920"/>
          </a:xfrm>
          <a:prstGeom prst="rect"/>
          <a:noFill/>
        </p:spPr>
        <p:txBody>
          <a:bodyPr wrap="none">
            <a:spAutoFit/>
          </a:bodyPr>
          <a:p>
            <a:pPr algn="ctr">
              <a:defRPr b="1" sz="2000">
                <a:solidFill>
                  <a:srgbClr val="00A651"/>
                </a:solidFill>
                <a:latin typeface="Georgia"/>
              </a:defRPr>
            </a:pPr>
            <a:r>
              <a:t>NIHONGO JOURNEY</a:t>
            </a:r>
          </a:p>
        </p:txBody>
      </p:sp>
      <p:sp>
        <p:nvSpPr>
          <p:cNvPr id="1048704" name="TextBox 4"/>
          <p:cNvSpPr txBox="1"/>
          <p:nvPr/>
        </p:nvSpPr>
        <p:spPr>
          <a:xfrm>
            <a:off x="1325880" y="2468880"/>
            <a:ext cx="9555480" cy="3063240"/>
          </a:xfrm>
          <a:prstGeom prst="rect"/>
          <a:noFill/>
        </p:spPr>
        <p:txBody>
          <a:bodyPr anchor="ctr" lIns="137160" rIns="137160" wrap="square">
            <a:spAutoFit/>
          </a:bodyPr>
          <a:p>
            <a:pPr>
              <a:spcAft>
                <a:spcPts val="2000"/>
              </a:spcAft>
              <a:defRPr sz="1900">
                <a:solidFill>
                  <a:srgbClr val="2D2D2D"/>
                </a:solidFill>
                <a:latin typeface="Georgia"/>
              </a:defRPr>
            </a:pPr>
            <a:r>
              <a:t>•  Nihongo Journey offers a beginner-friendly way to explore Japanese language learning.</a:t>
            </a:r>
          </a:p>
          <a:p>
            <a:pPr>
              <a:spcAft>
                <a:spcPts val="2000"/>
              </a:spcAft>
              <a:defRPr sz="1900">
                <a:solidFill>
                  <a:srgbClr val="2D2D2D"/>
                </a:solidFill>
                <a:latin typeface="Georgia"/>
              </a:defRPr>
            </a:pPr>
            <a:r>
              <a:t>•  Organized learning sections help users access lessons and practice in one place.</a:t>
            </a:r>
          </a:p>
          <a:p>
            <a:pPr>
              <a:spcAft>
                <a:spcPts val="2000"/>
              </a:spcAft>
              <a:defRPr sz="1900">
                <a:solidFill>
                  <a:srgbClr val="2D2D2D"/>
                </a:solidFill>
                <a:latin typeface="Georgia"/>
              </a:defRPr>
            </a:pPr>
            <a:r>
              <a:t>•  The project demonstrates a clear learning experience built with modern web technologies.</a:t>
            </a:r>
          </a:p>
          <a:p>
            <a:pPr>
              <a:spcAft>
                <a:spcPts val="2000"/>
              </a:spcAft>
              <a:defRPr sz="1900">
                <a:solidFill>
                  <a:srgbClr val="2D2D2D"/>
                </a:solidFill>
                <a:latin typeface="Georgia"/>
              </a:defRPr>
            </a:pPr>
            <a:r>
              <a:t>•  Future improvements can include quizzes, progress tracking, and additional learning resources.</a:t>
            </a:r>
          </a:p>
        </p:txBody>
      </p:sp>
      <p:sp>
        <p:nvSpPr>
          <p:cNvPr id="1048705" name="TextBox 5"/>
          <p:cNvSpPr txBox="1"/>
          <p:nvPr/>
        </p:nvSpPr>
        <p:spPr>
          <a:xfrm>
            <a:off x="731520" y="6263640"/>
            <a:ext cx="10744200" cy="274320"/>
          </a:xfrm>
          <a:prstGeom prst="rect"/>
          <a:noFill/>
        </p:spPr>
        <p:txBody>
          <a:bodyPr wrap="none">
            <a:spAutoFit/>
          </a:bodyPr>
          <a:p>
            <a:pPr algn="ctr">
              <a:defRPr sz="1000">
                <a:solidFill>
                  <a:srgbClr val="00A651"/>
                </a:solidFill>
                <a:latin typeface="Georgia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CPH2613</dc:creator>
  <cp:lastModifiedBy>Steve Canny</cp:lastModifiedBy>
  <dcterms:created xsi:type="dcterms:W3CDTF">2013-01-26T22:14:16Z</dcterms:created>
  <dcterms:modified xsi:type="dcterms:W3CDTF">2026-10-30T01:06:28Z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c696154b6d5847429ae3f1b730266cd2_23</vt:lpwstr>
  </property>
</Properties>
</file>